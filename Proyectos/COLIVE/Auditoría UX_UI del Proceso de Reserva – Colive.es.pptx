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embeddedFontLst>
    <p:embeddedFont>
      <p:font typeface="Raleway"/>
      <p:regular r:id="rId63"/>
      <p:bold r:id="rId64"/>
      <p:italic r:id="rId65"/>
      <p:boldItalic r:id="rId66"/>
    </p:embeddedFont>
    <p:embeddedFont>
      <p:font typeface="Lato"/>
      <p:regular r:id="rId67"/>
      <p:bold r:id="rId68"/>
      <p:italic r:id="rId69"/>
      <p:boldItalic r:id="rId70"/>
    </p:embeddedFont>
    <p:embeddedFont>
      <p:font typeface="Inter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Inter-italic.fntdata"/><Relationship Id="rId72" Type="http://schemas.openxmlformats.org/officeDocument/2006/relationships/font" Target="fonts/Inter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schemas.openxmlformats.org/officeDocument/2006/relationships/font" Target="fonts/Inter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Inter-regular.fntdata"/><Relationship Id="rId70" Type="http://schemas.openxmlformats.org/officeDocument/2006/relationships/font" Target="fonts/Lat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Raleway-bold.fntdata"/><Relationship Id="rId63" Type="http://schemas.openxmlformats.org/officeDocument/2006/relationships/font" Target="fonts/Raleway-regular.fntdata"/><Relationship Id="rId22" Type="http://schemas.openxmlformats.org/officeDocument/2006/relationships/slide" Target="slides/slide17.xml"/><Relationship Id="rId66" Type="http://schemas.openxmlformats.org/officeDocument/2006/relationships/font" Target="fonts/Raleway-boldItalic.fntdata"/><Relationship Id="rId21" Type="http://schemas.openxmlformats.org/officeDocument/2006/relationships/slide" Target="slides/slide16.xml"/><Relationship Id="rId65" Type="http://schemas.openxmlformats.org/officeDocument/2006/relationships/font" Target="fonts/Raleway-italic.fntdata"/><Relationship Id="rId24" Type="http://schemas.openxmlformats.org/officeDocument/2006/relationships/slide" Target="slides/slide19.xml"/><Relationship Id="rId68" Type="http://schemas.openxmlformats.org/officeDocument/2006/relationships/font" Target="fonts/Lato-bold.fntdata"/><Relationship Id="rId23" Type="http://schemas.openxmlformats.org/officeDocument/2006/relationships/slide" Target="slides/slide18.xml"/><Relationship Id="rId67" Type="http://schemas.openxmlformats.org/officeDocument/2006/relationships/font" Target="fonts/Lato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Lat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dc829279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dc829279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92cda26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92cda26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8044d56d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8044d56d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68f494ab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68f494ab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68f494ab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68f494ab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13c3f65d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13c3f65d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13c3f65d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13c3f65d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13c3f65d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13c3f65d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16908bd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16908bd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16908bd8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16908bd8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16908bd8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16908bd8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16908bd8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16908bd8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16908bd8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16908bd8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16908bd8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16908bd8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16908bd8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16908bd8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0dab52c1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60dab52c1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368f494a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368f494a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fcbef9cc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4fcbef9cc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0ebd2aee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0ebd2aee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e225c88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e225c88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fcbef9cc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4fcbef9cc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4e225c884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4e225c884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4fcbef9cc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4fcbef9cc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4e891d572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4e891d572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4fcbef9cc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4fcbef9cc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4fcbef9cc4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4fcbef9cc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50ebd2aee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50ebd2aee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4e891d572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4e891d572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50ebd2aee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50ebd2aee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4fcbef9cc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4fcbef9cc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0ebd2aee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50ebd2aee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4fcbef9cc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4fcbef9cc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4fcbef9cc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4fcbef9cc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51933fb3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51933fb3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4fcbef9cc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4fcbef9cc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4fcbef9cc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4fcbef9cc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4fcbef9cc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4fcbef9cc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59438f89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59438f89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59438f897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59438f897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59438f897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59438f897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59438f897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59438f897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59438f897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59438f897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077294342fde50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077294342fde50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077294342fde503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077294342fde503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077294342fde503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077294342fde503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077294342fde503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077294342fde503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077294342fde503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077294342fde503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077294342fde503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077294342fde503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5a556b39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5a556b39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687b387e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687b387e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696f8a1a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696f8a1a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6b7b1518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6b7b1518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6b7b1518e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6b7b1518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5b184166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5b184166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5b1841668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5b1841668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5b184166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5b184166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57700" y="1058125"/>
            <a:ext cx="784800" cy="78600"/>
          </a:xfrm>
          <a:prstGeom prst="rect">
            <a:avLst/>
          </a:prstGeom>
          <a:gradFill>
            <a:gsLst>
              <a:gs pos="0">
                <a:srgbClr val="5CBCE3"/>
              </a:gs>
              <a:gs pos="44000">
                <a:srgbClr val="C1459F"/>
              </a:gs>
              <a:gs pos="75000">
                <a:srgbClr val="F16343"/>
              </a:gs>
              <a:gs pos="100000">
                <a:srgbClr val="F2A515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7" name="Google Shape;17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757700" y="1058125"/>
            <a:ext cx="784800" cy="78600"/>
          </a:xfrm>
          <a:prstGeom prst="rect">
            <a:avLst/>
          </a:prstGeom>
          <a:gradFill>
            <a:gsLst>
              <a:gs pos="0">
                <a:srgbClr val="5CBCE3"/>
              </a:gs>
              <a:gs pos="44000">
                <a:srgbClr val="C1459F"/>
              </a:gs>
              <a:gs pos="75000">
                <a:srgbClr val="F16343"/>
              </a:gs>
              <a:gs pos="100000">
                <a:srgbClr val="F2A515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0" name="Google Shape;30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" name="Google Shape;38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9" name="Google Shape;39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" name="Google Shape;45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6" name="Google Shape;46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3" name="Google Shape;5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1" name="Google Shape;7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7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4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4.xml"/><Relationship Id="rId4" Type="http://schemas.openxmlformats.org/officeDocument/2006/relationships/image" Target="../media/image9.png"/><Relationship Id="rId9" Type="http://schemas.openxmlformats.org/officeDocument/2006/relationships/image" Target="../media/image49.png"/><Relationship Id="rId5" Type="http://schemas.openxmlformats.org/officeDocument/2006/relationships/image" Target="../media/image1.png"/><Relationship Id="rId6" Type="http://schemas.openxmlformats.org/officeDocument/2006/relationships/slide" Target="/ppt/slides/slide4.xml"/><Relationship Id="rId7" Type="http://schemas.openxmlformats.org/officeDocument/2006/relationships/image" Target="../media/image41.png"/><Relationship Id="rId8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30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8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32.jpg"/><Relationship Id="rId5" Type="http://schemas.openxmlformats.org/officeDocument/2006/relationships/image" Target="../media/image23.jp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32.jpg"/><Relationship Id="rId5" Type="http://schemas.openxmlformats.org/officeDocument/2006/relationships/image" Target="../media/image23.jp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Relationship Id="rId8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gif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gif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gif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29.xml"/><Relationship Id="rId4" Type="http://schemas.openxmlformats.org/officeDocument/2006/relationships/image" Target="../media/image35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0.gif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slide" Target="/ppt/slides/slide29.xml"/><Relationship Id="rId4" Type="http://schemas.openxmlformats.org/officeDocument/2006/relationships/image" Target="../media/image43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Relationship Id="rId4" Type="http://schemas.openxmlformats.org/officeDocument/2006/relationships/hyperlink" Target="http://dzionix.com/registro-colive.html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2.png"/><Relationship Id="rId6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8.png"/><Relationship Id="rId6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1.png"/><Relationship Id="rId6" Type="http://schemas.openxmlformats.org/officeDocument/2006/relationships/image" Target="../media/image4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3.png"/><Relationship Id="rId6" Type="http://schemas.openxmlformats.org/officeDocument/2006/relationships/image" Target="../media/image5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hyperlink" Target="https://dzionix.com/perfil-colive.html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1" Type="http://schemas.openxmlformats.org/officeDocument/2006/relationships/hyperlink" Target="https://dzionix.com/recordatorio-pago.html" TargetMode="External"/><Relationship Id="rId10" Type="http://schemas.openxmlformats.org/officeDocument/2006/relationships/image" Target="../media/image57.png"/><Relationship Id="rId13" Type="http://schemas.openxmlformats.org/officeDocument/2006/relationships/hyperlink" Target="https://dzionix.com/reserva-llegada.html" TargetMode="External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hyperlink" Target="https://dzionix.com/confrmacion-reserva-transferencia.html" TargetMode="External"/><Relationship Id="rId14" Type="http://schemas.openxmlformats.org/officeDocument/2006/relationships/image" Target="../media/image54.png"/><Relationship Id="rId5" Type="http://schemas.openxmlformats.org/officeDocument/2006/relationships/hyperlink" Target="https://dzionix.com/reserva-salida.html" TargetMode="External"/><Relationship Id="rId6" Type="http://schemas.openxmlformats.org/officeDocument/2006/relationships/image" Target="../media/image59.png"/><Relationship Id="rId7" Type="http://schemas.openxmlformats.org/officeDocument/2006/relationships/hyperlink" Target="https://dzionix.com/confirmacion-reserva-tarjeta.html" TargetMode="External"/><Relationship Id="rId8" Type="http://schemas.openxmlformats.org/officeDocument/2006/relationships/image" Target="../media/image4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0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hyperlink" Target="https://dzionix.com/pagina-contactar.html" TargetMode="External"/><Relationship Id="rId5" Type="http://schemas.openxmlformats.org/officeDocument/2006/relationships/hyperlink" Target="https://dzionix.com/pagina-ofrece-tu-propiedad.html" TargetMode="External"/><Relationship Id="rId6" Type="http://schemas.openxmlformats.org/officeDocument/2006/relationships/image" Target="../media/image56.png"/><Relationship Id="rId7" Type="http://schemas.openxmlformats.org/officeDocument/2006/relationships/hyperlink" Target="https://dzionix.com/pagina-colaboradores.html" TargetMode="External"/><Relationship Id="rId8" Type="http://schemas.openxmlformats.org/officeDocument/2006/relationships/image" Target="../media/image5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ctrTitle"/>
          </p:nvPr>
        </p:nvSpPr>
        <p:spPr>
          <a:xfrm>
            <a:off x="648625" y="1256325"/>
            <a:ext cx="81750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850"/>
              <a:t>Auditoría UX/UI</a:t>
            </a:r>
            <a:br>
              <a:rPr lang="es"/>
            </a:br>
            <a:r>
              <a:rPr lang="es" sz="3300"/>
              <a:t>Proceso de Reserva – Perfil del Cliente</a:t>
            </a:r>
            <a:endParaRPr sz="3300"/>
          </a:p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648625" y="4195625"/>
            <a:ext cx="4972500" cy="8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Daniel Felipe Zapata Martinez</a:t>
            </a:r>
            <a:endParaRPr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Diseñador UX/UI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4" name="Google Shape;84;p13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2500" y="4054600"/>
            <a:ext cx="2921252" cy="7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>
            <p:ph type="ctrTitle"/>
          </p:nvPr>
        </p:nvSpPr>
        <p:spPr>
          <a:xfrm>
            <a:off x="648625" y="2940725"/>
            <a:ext cx="58491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600">
                <a:solidFill>
                  <a:srgbClr val="38761D"/>
                </a:solidFill>
              </a:rPr>
              <a:t>Hallazgos y propuestas de mejora</a:t>
            </a:r>
            <a:endParaRPr sz="2600">
              <a:solidFill>
                <a:srgbClr val="38761D"/>
              </a:solidFill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-34550"/>
            <a:ext cx="9144000" cy="53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0" y="3650225"/>
            <a:ext cx="9144000" cy="151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4"/>
          <p:cNvSpPr txBox="1"/>
          <p:nvPr>
            <p:ph idx="4294967295" type="title"/>
          </p:nvPr>
        </p:nvSpPr>
        <p:spPr>
          <a:xfrm>
            <a:off x="417725" y="754113"/>
            <a:ext cx="3593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40"/>
              <a:t>Resumen Ejecutivo</a:t>
            </a:r>
            <a:endParaRPr sz="2040"/>
          </a:p>
        </p:txBody>
      </p:sp>
      <p:sp>
        <p:nvSpPr>
          <p:cNvPr id="94" name="Google Shape;94;p14"/>
          <p:cNvSpPr txBox="1"/>
          <p:nvPr>
            <p:ph idx="4294967295" type="body"/>
          </p:nvPr>
        </p:nvSpPr>
        <p:spPr>
          <a:xfrm>
            <a:off x="417725" y="1393075"/>
            <a:ext cx="3951600" cy="19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10"/>
              <a:t>Colive.es</a:t>
            </a:r>
            <a:r>
              <a:rPr lang="es" sz="1210"/>
              <a:t> es una plataforma orientada a jóvenes estudiantes (18-35 años) que buscan habitaciones en pisos compartidos en Madrid. </a:t>
            </a:r>
            <a:endParaRPr sz="121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10"/>
              <a:t>Esta </a:t>
            </a:r>
            <a:r>
              <a:rPr b="1" lang="es" sz="1210"/>
              <a:t>auditoría UX/UI</a:t>
            </a:r>
            <a:r>
              <a:rPr lang="es" sz="1210"/>
              <a:t> aborda dos áreas fundamentales de la experiencia:</a:t>
            </a:r>
            <a:endParaRPr sz="1210"/>
          </a:p>
          <a:p>
            <a:pPr indent="-30543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10"/>
              <a:buAutoNum type="arabicPeriod"/>
            </a:pPr>
            <a:r>
              <a:rPr lang="es" sz="1210"/>
              <a:t>El proceso de reserva online</a:t>
            </a:r>
            <a:endParaRPr sz="1210"/>
          </a:p>
          <a:p>
            <a:pPr indent="-3054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10"/>
              <a:buAutoNum type="arabicPeriod"/>
            </a:pPr>
            <a:r>
              <a:rPr lang="es" sz="1210"/>
              <a:t>El perfil del usuario tras la reserva</a:t>
            </a:r>
            <a:endParaRPr sz="1210"/>
          </a:p>
        </p:txBody>
      </p:sp>
      <p:sp>
        <p:nvSpPr>
          <p:cNvPr id="95" name="Google Shape;95;p14"/>
          <p:cNvSpPr txBox="1"/>
          <p:nvPr>
            <p:ph idx="4294967295" type="title"/>
          </p:nvPr>
        </p:nvSpPr>
        <p:spPr>
          <a:xfrm>
            <a:off x="4617625" y="754113"/>
            <a:ext cx="3883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40"/>
              <a:t>Objetivos de la Auditoría:</a:t>
            </a:r>
            <a:endParaRPr sz="2040"/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4617625" y="1393075"/>
            <a:ext cx="4141500" cy="19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5276" lvl="0" marL="457200" rtl="0" algn="l">
              <a:spcBef>
                <a:spcPts val="1200"/>
              </a:spcBef>
              <a:spcAft>
                <a:spcPts val="0"/>
              </a:spcAft>
              <a:buSzPts val="1208"/>
              <a:buChar char="➔"/>
            </a:pPr>
            <a:r>
              <a:rPr lang="es" sz="1208"/>
              <a:t>Reducir la fricción y el abandono durante la reserva.</a:t>
            </a:r>
            <a:br>
              <a:rPr lang="es" sz="1208"/>
            </a:br>
            <a:endParaRPr sz="1008"/>
          </a:p>
          <a:p>
            <a:pPr indent="-305276" lvl="0" marL="457200" rtl="0" algn="l">
              <a:spcBef>
                <a:spcPts val="0"/>
              </a:spcBef>
              <a:spcAft>
                <a:spcPts val="0"/>
              </a:spcAft>
              <a:buSzPts val="1208"/>
              <a:buChar char="➔"/>
            </a:pPr>
            <a:r>
              <a:rPr lang="es" sz="1208"/>
              <a:t>Simplificar la navegación y jerarquía visual del perfil.</a:t>
            </a:r>
            <a:br>
              <a:rPr lang="es" sz="1208"/>
            </a:br>
            <a:endParaRPr sz="1008"/>
          </a:p>
          <a:p>
            <a:pPr indent="-305276" lvl="0" marL="457200" rtl="0" algn="l">
              <a:spcBef>
                <a:spcPts val="0"/>
              </a:spcBef>
              <a:spcAft>
                <a:spcPts val="0"/>
              </a:spcAft>
              <a:buSzPts val="1208"/>
              <a:buChar char="➔"/>
            </a:pPr>
            <a:r>
              <a:rPr lang="es" sz="1208"/>
              <a:t>Mejorar la percepción de profesionalismo y confianza.</a:t>
            </a:r>
            <a:br>
              <a:rPr lang="es" sz="1208"/>
            </a:br>
            <a:endParaRPr sz="1008"/>
          </a:p>
          <a:p>
            <a:pPr indent="-305276" lvl="0" marL="457200" rtl="0" algn="l">
              <a:spcBef>
                <a:spcPts val="0"/>
              </a:spcBef>
              <a:spcAft>
                <a:spcPts val="0"/>
              </a:spcAft>
              <a:buSzPts val="1208"/>
              <a:buChar char="➔"/>
            </a:pPr>
            <a:r>
              <a:rPr lang="es" sz="1208"/>
              <a:t>Alinear el producto con los estándares de plataformas líderes del sector (Airbnb, Joivy, DoveVivo)</a:t>
            </a:r>
            <a:endParaRPr sz="1208"/>
          </a:p>
        </p:txBody>
      </p:sp>
      <p:sp>
        <p:nvSpPr>
          <p:cNvPr id="97" name="Google Shape;97;p14"/>
          <p:cNvSpPr txBox="1"/>
          <p:nvPr>
            <p:ph idx="4294967295" type="title"/>
          </p:nvPr>
        </p:nvSpPr>
        <p:spPr>
          <a:xfrm>
            <a:off x="2662800" y="3691400"/>
            <a:ext cx="381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8761D"/>
                </a:solidFill>
              </a:rPr>
              <a:t>Resultado esperado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98" name="Google Shape;98;p14"/>
          <p:cNvSpPr txBox="1"/>
          <p:nvPr>
            <p:ph idx="4294967295" type="body"/>
          </p:nvPr>
        </p:nvSpPr>
        <p:spPr>
          <a:xfrm>
            <a:off x="2454750" y="4168225"/>
            <a:ext cx="42345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2"/>
                </a:solidFill>
              </a:rPr>
              <a:t>Un producto más coherente, accesible e intuitivo que aumente las reservas efectivas y refuerce la fidelización del usuario tras completar la reserva.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9" name="Google Shape;99;p14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 de Reserva</a:t>
            </a:r>
            <a:endParaRPr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/>
              <a:t>A continuación se analiza todo el</a:t>
            </a:r>
            <a:r>
              <a:rPr b="1" lang="es" sz="1800"/>
              <a:t> </a:t>
            </a:r>
            <a:r>
              <a:rPr b="1" lang="es" sz="1800" u="sng"/>
              <a:t>flujo del proceso de reserva</a:t>
            </a:r>
            <a:r>
              <a:rPr lang="es" sz="1800"/>
              <a:t> desde la selección de fechas hasta la confirmación de pago.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/>
              <a:t>Se detallan los </a:t>
            </a:r>
            <a:r>
              <a:rPr b="1" lang="es" sz="1800">
                <a:solidFill>
                  <a:srgbClr val="980000"/>
                </a:solidFill>
              </a:rPr>
              <a:t>hallazgos </a:t>
            </a:r>
            <a:r>
              <a:rPr lang="es" sz="1800"/>
              <a:t>encontrados en cada uno de los pasos clave del proceso actual en </a:t>
            </a:r>
            <a:r>
              <a:rPr b="1" lang="es" sz="1800"/>
              <a:t>Colive.es</a:t>
            </a:r>
            <a:r>
              <a:rPr lang="es" sz="1800"/>
              <a:t> y se presentan </a:t>
            </a:r>
            <a:r>
              <a:rPr b="1" lang="es" sz="1800">
                <a:solidFill>
                  <a:srgbClr val="38761D"/>
                </a:solidFill>
              </a:rPr>
              <a:t>soluciones </a:t>
            </a:r>
            <a:r>
              <a:rPr lang="es" sz="1800"/>
              <a:t>centradas en optimizar la experiencia de usuario, reducir fricciones y mantener la continuidad visual y funcional del recorrido.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00"/>
          </a:p>
        </p:txBody>
      </p:sp>
      <p:pic>
        <p:nvPicPr>
          <p:cNvPr id="107" name="Google Shape;107;p15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275075" y="2796325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188825" y="1213850"/>
            <a:ext cx="52092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Calendario poco intuitivo y confuso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El calendario muestra meses completos, dificultando la selección de días específicos.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Esto genera confusión, frustración e incoherencia con respecto a otras plataformas (Airbnb, Coliving, etc.).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5" name="Google Shape;115;p16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188825" y="3171325"/>
            <a:ext cx="5100300" cy="17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Mostrar directamente la vista por días al hacer clic en la fecha, permitiendo seleccionar el rango sin pasos extra.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 Interacción más fluida y natural.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Refuerza la familiaridad con patrones conocidos. 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Mejora la percepción de control del usuario.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75075" y="2763175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Pantalla de inicio y primer paso del proceso de búsqueda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5525" y="1623273"/>
            <a:ext cx="2668800" cy="307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1353187" y="1590898"/>
            <a:ext cx="1977300" cy="3732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875737" y="1603498"/>
            <a:ext cx="29322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Versión Actual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5467812" y="1287648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7"/>
          <p:cNvSpPr txBox="1"/>
          <p:nvPr>
            <p:ph idx="1" type="body"/>
          </p:nvPr>
        </p:nvSpPr>
        <p:spPr>
          <a:xfrm>
            <a:off x="5579112" y="1281348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0" name="Google Shape;130;p17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Pantalla de inicio y primer paso del proceso de búsqueda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133" name="Google Shape;133;p17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8600" y="1954684"/>
            <a:ext cx="2355725" cy="302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3975" y="2160850"/>
            <a:ext cx="2355725" cy="27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5051125" y="138050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518725" y="1584550"/>
            <a:ext cx="3798000" cy="17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Se permiten rangos de fechas inválidos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El sistema permite elegir fechas que no cumplen con el mínimo de noches, generando búsquedas inválidas.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El error se detecta tarde, causando confusión, desconfianza y posibles abandonos.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2" name="Google Shape;142;p18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4719150" y="1787825"/>
            <a:ext cx="3798000" cy="13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Selección por días desde el inicio, no por meses.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Validación automática: al seleccionar la fecha de llegada, se bloquean fechas de salida que no cumplan el mínimo requerido.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051125" y="134735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146" name="Google Shape;146;p18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Pantalla de inicio y primer paso del proceso de búsqueda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5051125" y="552200"/>
            <a:ext cx="3940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0763" y="3583800"/>
            <a:ext cx="6302474" cy="12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3583354" y="1455086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3694654" y="1448786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5" name="Google Shape;155;p19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Pantalla de inicio y primer paso del proceso de búsqueda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158" name="Google Shape;158;p19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2049225" y="1965300"/>
            <a:ext cx="5045558" cy="3078250"/>
            <a:chOff x="1971225" y="1873725"/>
            <a:chExt cx="5045558" cy="3078250"/>
          </a:xfrm>
        </p:grpSpPr>
        <p:pic>
          <p:nvPicPr>
            <p:cNvPr id="160" name="Google Shape;160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71225" y="1873728"/>
              <a:ext cx="2289124" cy="30782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51100" y="1873725"/>
              <a:ext cx="2365683" cy="3078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0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Pantalla de inicio y primer paso del proceso de búsqueda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170" name="Google Shape;170;p20" title="Vídeo-sin-título-‐-Hecho-con-Clipchamp.gif"/>
          <p:cNvPicPr preferRelativeResize="0"/>
          <p:nvPr/>
        </p:nvPicPr>
        <p:blipFill rotWithShape="1">
          <a:blip r:embed="rId5">
            <a:alphaModFix/>
          </a:blip>
          <a:srcRect b="11380" l="5193" r="6795" t="19901"/>
          <a:stretch/>
        </p:blipFill>
        <p:spPr>
          <a:xfrm>
            <a:off x="1453300" y="1790550"/>
            <a:ext cx="6690576" cy="293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2957100" y="1198675"/>
            <a:ext cx="32298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 u="sng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DEMO VIDEO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/>
          <p:nvPr/>
        </p:nvSpPr>
        <p:spPr>
          <a:xfrm>
            <a:off x="327300" y="330690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243275" y="1335375"/>
            <a:ext cx="4630500" cy="17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Exploración limitada para usuarios sin fechas definidas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Al llegar a la página principal sin fechas seleccionadas, el usuario solo ve el buscador y contenido general, pero no se muestran habitaciones ni opciones visibles para explorar.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El botón “Aún no lo sé” está oculto, mal posicionado y sin un mensaje claro.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8" name="Google Shape;178;p21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184725" y="3669075"/>
            <a:ext cx="4416900" cy="13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Reubicar el botón “Aún no lo sé” fuera del calendario, debajo de los inputs. 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Mostrar contenido destacado desde el inicio, como habitaciones populares o recomendadas.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327300" y="327375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Pantalla de inicio y primer paso del proceso de búsqueda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183" name="Google Shape;183;p21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8025" y="1515249"/>
            <a:ext cx="3843801" cy="74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5813" y="2324000"/>
            <a:ext cx="1728225" cy="260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3583350" y="1557086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3694650" y="1550786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2" name="Google Shape;192;p22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Pantalla de inicio y primer paso del proceso de búsqueda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195" name="Google Shape;195;p22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 rotWithShape="1">
          <a:blip r:embed="rId5">
            <a:alphaModFix/>
          </a:blip>
          <a:srcRect b="5795" l="0" r="0" t="20290"/>
          <a:stretch/>
        </p:blipFill>
        <p:spPr>
          <a:xfrm>
            <a:off x="1090325" y="2184625"/>
            <a:ext cx="6963351" cy="22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/>
          <p:nvPr/>
        </p:nvSpPr>
        <p:spPr>
          <a:xfrm>
            <a:off x="856188" y="2847525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967488" y="2841225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3" name="Google Shape;203;p23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Pantalla de inicio y primer paso del proceso de búsqueda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06" name="Google Shape;206;p23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5213" y="1146300"/>
            <a:ext cx="4331465" cy="388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/>
          <p:nvPr/>
        </p:nvSpPr>
        <p:spPr>
          <a:xfrm>
            <a:off x="249224" y="3358800"/>
            <a:ext cx="3664200" cy="3210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167075" y="1182975"/>
            <a:ext cx="4084500" cy="21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Inconsistencias en la página de resultados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Aunque ya se detectó que el calendario permite seleccionar fechas inválidas, este error afecta también a la página de resultados.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Esta inconsistencia ocurre cuando se accede con un rango inválido desde el inicio, algo ya descrito en los </a:t>
            </a:r>
            <a:r>
              <a:rPr lang="es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action="ppaction://hlinksldjump" r:id="rId3"/>
              </a:rPr>
              <a:t>hallazgos 1 y 2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, pero aquí afecta directamente a la interpretación del usuario sobre la disponibilidad real.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4" name="Google Shape;214;p24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>
            <p:ph idx="1" type="body"/>
          </p:nvPr>
        </p:nvSpPr>
        <p:spPr>
          <a:xfrm>
            <a:off x="32325" y="3897675"/>
            <a:ext cx="40329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Validar fechas desde el calendario de inicio para evitar búsquedas inválidas.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Asegurar que solo se muestren habitaciones efectivamente reservables.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123974" y="3349950"/>
            <a:ext cx="391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Complemento a la solución propuesta ( </a:t>
            </a:r>
            <a:r>
              <a:rPr b="1" lang="es" sz="10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Hallazgos 1 y 2</a:t>
            </a:r>
            <a:r>
              <a:rPr b="1" lang="e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):</a:t>
            </a:r>
            <a:endParaRPr sz="1300"/>
          </a:p>
        </p:txBody>
      </p:sp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Resultados de búsqueda: Listado de habitaciones disponibles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220" name="Google Shape;22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64424" y="1101825"/>
            <a:ext cx="4314001" cy="4332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24"/>
          <p:cNvCxnSpPr/>
          <p:nvPr/>
        </p:nvCxnSpPr>
        <p:spPr>
          <a:xfrm>
            <a:off x="8166300" y="1535025"/>
            <a:ext cx="0" cy="2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2" name="Google Shape;22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51072" y="1735437"/>
            <a:ext cx="3540704" cy="1525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24"/>
          <p:cNvCxnSpPr/>
          <p:nvPr/>
        </p:nvCxnSpPr>
        <p:spPr>
          <a:xfrm>
            <a:off x="5469975" y="3261525"/>
            <a:ext cx="0" cy="2073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4" name="Google Shape;224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04875" y="3523752"/>
            <a:ext cx="4633099" cy="152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idx="1" type="body"/>
          </p:nvPr>
        </p:nvSpPr>
        <p:spPr>
          <a:xfrm>
            <a:off x="339675" y="1309425"/>
            <a:ext cx="3607800" cy="20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Las fechas alternativas son poco claras y </a:t>
            </a: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difíciles</a:t>
            </a: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 de interpretar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Presentadas como texto largo, sin jerarquía visual.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Parecen información pasiva, no interactiva.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El usuario no sabe si son sugerencias o resultados distintos.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0" name="Google Shape;230;p25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4206500" y="1539650"/>
            <a:ext cx="4587000" cy="17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Mostrar tarjetas clicables con: Rango de fechas sugeridas.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Número de habitaciones disponibles.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Diferenciar visualmente la búsqueda actual de las sugerencias.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Diseño interactivo claro: contraste, hover, icono.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Resultados de búsqueda: Listado de habitaciones disponibles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4449225" y="121880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4449225" y="118565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pic>
        <p:nvPicPr>
          <p:cNvPr id="237" name="Google Shape;23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2175" y="3583763"/>
            <a:ext cx="6539649" cy="14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/>
        </p:nvSpPr>
        <p:spPr>
          <a:xfrm>
            <a:off x="3583350" y="1785686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6"/>
          <p:cNvSpPr txBox="1"/>
          <p:nvPr>
            <p:ph idx="1" type="body"/>
          </p:nvPr>
        </p:nvSpPr>
        <p:spPr>
          <a:xfrm>
            <a:off x="3694650" y="1779386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4" name="Google Shape;244;p26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Resultados de búsqueda: Listado de habitaciones disponibles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248" name="Google Shape;2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538" y="2841700"/>
            <a:ext cx="8592924" cy="119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/>
          <p:nvPr/>
        </p:nvSpPr>
        <p:spPr>
          <a:xfrm>
            <a:off x="4921350" y="293295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458350" y="2823600"/>
            <a:ext cx="39183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Filtros visualmente sobrecargados y con jerarquía excesiva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Ocupan espacio considerable en vertical.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Compiten visualmente con los resultados de habitaciones.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La disposición en varias filas dificulta una lectura rápida y clara.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5" name="Google Shape;255;p27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>
            <p:ph idx="1" type="body"/>
          </p:nvPr>
        </p:nvSpPr>
        <p:spPr>
          <a:xfrm>
            <a:off x="4702575" y="3371325"/>
            <a:ext cx="42180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Rediseñar los filtros con enfoque horizontal y minimalista.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Distribución horizontal en una sola línea.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Cada filtro es un botón con icono + texto que despliega modal de opciones.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4921350" y="289980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Resultados de búsqueda: Listado de habitaciones disponibles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60" name="Google Shape;260;p27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261" name="Google Shape;26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612" y="1380826"/>
            <a:ext cx="8544777" cy="10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/>
          <p:nvPr/>
        </p:nvSpPr>
        <p:spPr>
          <a:xfrm>
            <a:off x="3583350" y="1262486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28"/>
          <p:cNvSpPr txBox="1"/>
          <p:nvPr>
            <p:ph idx="1" type="body"/>
          </p:nvPr>
        </p:nvSpPr>
        <p:spPr>
          <a:xfrm>
            <a:off x="3694650" y="1256186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68" name="Google Shape;268;p28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Resultados de búsqueda: Listado de habitaciones disponibles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71" name="Google Shape;271;p28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272" name="Google Shape;272;p28"/>
          <p:cNvSpPr txBox="1"/>
          <p:nvPr>
            <p:ph idx="1" type="body"/>
          </p:nvPr>
        </p:nvSpPr>
        <p:spPr>
          <a:xfrm>
            <a:off x="2957100" y="2529025"/>
            <a:ext cx="32298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 u="sng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DEMO VIDEO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73" name="Google Shape;27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375" y="1807975"/>
            <a:ext cx="8081250" cy="48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8" title="Vídeo-sin-título-‐-Hecho-con-Clipchamp-_2_.gif"/>
          <p:cNvPicPr preferRelativeResize="0"/>
          <p:nvPr/>
        </p:nvPicPr>
        <p:blipFill rotWithShape="1">
          <a:blip r:embed="rId6">
            <a:alphaModFix/>
          </a:blip>
          <a:srcRect b="18916" l="1589" r="2090" t="14806"/>
          <a:stretch/>
        </p:blipFill>
        <p:spPr>
          <a:xfrm>
            <a:off x="2018725" y="2985600"/>
            <a:ext cx="5106550" cy="19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9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1913100" y="1719850"/>
            <a:ext cx="5317800" cy="26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rgbClr val="1A1A1A"/>
                </a:solidFill>
              </a:rPr>
              <a:t>Proceso de reserva: </a:t>
            </a:r>
            <a:endParaRPr b="1" sz="3500">
              <a:solidFill>
                <a:srgbClr val="1A1A1A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3500">
                <a:solidFill>
                  <a:srgbClr val="1A1A1A"/>
                </a:solidFill>
              </a:rPr>
              <a:t>Desde la ficha de la habitación hasta la confirmación</a:t>
            </a:r>
            <a:endParaRPr sz="3500">
              <a:solidFill>
                <a:srgbClr val="1A1A1A"/>
              </a:solidFill>
            </a:endParaRPr>
          </a:p>
        </p:txBody>
      </p:sp>
      <p:sp>
        <p:nvSpPr>
          <p:cNvPr id="282" name="Google Shape;282;p29"/>
          <p:cNvSpPr txBox="1"/>
          <p:nvPr>
            <p:ph type="title"/>
          </p:nvPr>
        </p:nvSpPr>
        <p:spPr>
          <a:xfrm>
            <a:off x="6089425" y="552200"/>
            <a:ext cx="290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/>
          <p:nvPr/>
        </p:nvSpPr>
        <p:spPr>
          <a:xfrm>
            <a:off x="230725" y="2806088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30"/>
          <p:cNvSpPr txBox="1"/>
          <p:nvPr>
            <p:ph idx="1" type="body"/>
          </p:nvPr>
        </p:nvSpPr>
        <p:spPr>
          <a:xfrm>
            <a:off x="188825" y="1213850"/>
            <a:ext cx="5376000" cy="16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Acceso a habitaciones no reservables por fechas no válidas</a:t>
            </a: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1.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El usuario puede acceder a una habitación aparentemente disponible, pero no reservable si no cumple con la estancia mínima.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Se muestran elementos confusos.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Botón de reserva visible aunque no se puede continuar.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9" name="Google Shape;2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125" y="1637925"/>
            <a:ext cx="3053425" cy="25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188825" y="3171325"/>
            <a:ext cx="5281200" cy="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Validar fechas desde el calendario: impedir selección de rangos no válidos desde la Home.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En caso de que se llegara a esta situación por error, se recomienda: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230725" y="2772938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294" name="Google Shape;294;p30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1: </a:t>
            </a:r>
            <a:r>
              <a:rPr lang="es" sz="1500" u="sng">
                <a:solidFill>
                  <a:srgbClr val="666666"/>
                </a:solidFill>
              </a:rPr>
              <a:t>Habitación no reservable mostrada como disponible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295" name="Google Shape;295;p30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51725" y="4065750"/>
            <a:ext cx="29115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Inter"/>
              <a:buChar char="-"/>
            </a:pP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Reemplazar “Disponible el…” por un mensaje claro con el mínimo requerido. </a:t>
            </a:r>
            <a:endParaRPr/>
          </a:p>
        </p:txBody>
      </p:sp>
      <p:sp>
        <p:nvSpPr>
          <p:cNvPr id="297" name="Google Shape;297;p30"/>
          <p:cNvSpPr txBox="1"/>
          <p:nvPr/>
        </p:nvSpPr>
        <p:spPr>
          <a:xfrm>
            <a:off x="2710250" y="4065750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Inter"/>
              <a:buChar char="-"/>
            </a:pP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Sustituir el botón por dos opciones:</a:t>
            </a: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→ “Cambiar fechas”</a:t>
            </a: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→ “Contactar”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25" y="2178100"/>
            <a:ext cx="3006175" cy="25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1"/>
          <p:cNvSpPr/>
          <p:nvPr/>
        </p:nvSpPr>
        <p:spPr>
          <a:xfrm>
            <a:off x="1020662" y="1561348"/>
            <a:ext cx="1977300" cy="3732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4" name="Google Shape;304;p31"/>
          <p:cNvSpPr txBox="1"/>
          <p:nvPr>
            <p:ph idx="1" type="body"/>
          </p:nvPr>
        </p:nvSpPr>
        <p:spPr>
          <a:xfrm>
            <a:off x="543212" y="1573948"/>
            <a:ext cx="29322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Versión Actual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5737474" y="1280248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31"/>
          <p:cNvSpPr txBox="1"/>
          <p:nvPr>
            <p:ph idx="1" type="body"/>
          </p:nvPr>
        </p:nvSpPr>
        <p:spPr>
          <a:xfrm>
            <a:off x="5848774" y="1273948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</a:t>
            </a: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07" name="Google Shape;307;p31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1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1: </a:t>
            </a:r>
            <a:r>
              <a:rPr lang="es" sz="1500" u="sng">
                <a:solidFill>
                  <a:srgbClr val="666666"/>
                </a:solidFill>
              </a:rPr>
              <a:t>Habitación no reservable mostrada como disponible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310" name="Google Shape;310;p31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311" name="Google Shape;31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325" y="1804773"/>
            <a:ext cx="3641598" cy="2897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2889298" y="1274125"/>
            <a:ext cx="32298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 u="sng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DEMO VIDEO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7" name="Google Shape;317;p32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2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1: </a:t>
            </a:r>
            <a:r>
              <a:rPr lang="es" sz="1500" u="sng">
                <a:solidFill>
                  <a:srgbClr val="666666"/>
                </a:solidFill>
              </a:rPr>
              <a:t>Habitación no reservable mostrada como disponible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320" name="Google Shape;320;p32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321" name="Google Shape;321;p32" title="screen-capture-_7_.gif"/>
          <p:cNvPicPr preferRelativeResize="0"/>
          <p:nvPr/>
        </p:nvPicPr>
        <p:blipFill rotWithShape="1">
          <a:blip r:embed="rId5">
            <a:alphaModFix/>
          </a:blip>
          <a:srcRect b="0" l="20996" r="21809" t="0"/>
          <a:stretch/>
        </p:blipFill>
        <p:spPr>
          <a:xfrm>
            <a:off x="2410100" y="1774550"/>
            <a:ext cx="4349923" cy="321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 txBox="1"/>
          <p:nvPr>
            <p:ph idx="1" type="body"/>
          </p:nvPr>
        </p:nvSpPr>
        <p:spPr>
          <a:xfrm>
            <a:off x="416200" y="1477175"/>
            <a:ext cx="4468200" cy="32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HABITACIÓN  DISPONIBLE: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El botón “CONTACTAR” Puede confundirse con un paso necesario del proceso o distraer de la acción principal: reservar.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Puede renombrarse como “</a:t>
            </a:r>
            <a:r>
              <a:rPr b="1" i="1" lang="es" sz="1100">
                <a:latin typeface="Inter"/>
                <a:ea typeface="Inter"/>
                <a:cs typeface="Inter"/>
                <a:sym typeface="Inter"/>
              </a:rPr>
              <a:t>¿Tienes dudas?”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o moverlo a un enlace más discreto, debajo del botón de reserva.</a:t>
            </a:r>
            <a:endParaRPr b="1"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Falta de confirmación visual de disponibilidad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Añadir un texto claro, como:  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i="1" lang="es" sz="1100">
                <a:latin typeface="Inter"/>
                <a:ea typeface="Inter"/>
                <a:cs typeface="Inter"/>
                <a:sym typeface="Inter"/>
              </a:rPr>
              <a:t>¡Esta habitación está disponible para tus fechas seleccionadas!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634" y="1726926"/>
            <a:ext cx="2912691" cy="22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3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3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1: </a:t>
            </a:r>
            <a:r>
              <a:rPr lang="es" sz="1500" u="sng">
                <a:solidFill>
                  <a:srgbClr val="666666"/>
                </a:solidFill>
              </a:rPr>
              <a:t>Elección de Fechas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331" name="Google Shape;331;p33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52" y="2329201"/>
            <a:ext cx="2912691" cy="22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3325" y="1998625"/>
            <a:ext cx="3717449" cy="287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4" title="logo-empresa-dorad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4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1: </a:t>
            </a:r>
            <a:r>
              <a:rPr lang="es" sz="1500" u="sng">
                <a:solidFill>
                  <a:srgbClr val="666666"/>
                </a:solidFill>
              </a:rPr>
              <a:t>Elección de Fechas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341" name="Google Shape;341;p34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975875" y="1485148"/>
            <a:ext cx="1977300" cy="3732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" name="Google Shape;343;p34"/>
          <p:cNvSpPr txBox="1"/>
          <p:nvPr>
            <p:ph idx="1" type="body"/>
          </p:nvPr>
        </p:nvSpPr>
        <p:spPr>
          <a:xfrm>
            <a:off x="498425" y="1497748"/>
            <a:ext cx="29322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Versión Actual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5783400" y="1408948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34"/>
          <p:cNvSpPr txBox="1"/>
          <p:nvPr>
            <p:ph idx="1" type="body"/>
          </p:nvPr>
        </p:nvSpPr>
        <p:spPr>
          <a:xfrm>
            <a:off x="5894700" y="1402648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idx="1" type="body"/>
          </p:nvPr>
        </p:nvSpPr>
        <p:spPr>
          <a:xfrm>
            <a:off x="228375" y="1320450"/>
            <a:ext cx="4770900" cy="20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Proceso de autenticación desconectado del flujo de reserva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Pérdida del contexto al redirigir a una página de login genérica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Se propone rediseñar por completo la página de autenticación, implementando una estructura de doble columna, inspirada en buenas prácticas de plataformas como Airbnb: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1" name="Google Shape;35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677" y="1244250"/>
            <a:ext cx="3666073" cy="18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/>
        </p:nvSpPr>
        <p:spPr>
          <a:xfrm>
            <a:off x="263300" y="3350400"/>
            <a:ext cx="4273500" cy="16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Columna izquierda:</a:t>
            </a: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Diseño estructurado como un acordeón o wizard destacando los pasos del proceso:</a:t>
            </a: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1. Iniciar sesión o registrarse</a:t>
            </a: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2. Seleccionar extras</a:t>
            </a: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3. Facturación y método de pago</a:t>
            </a: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4. Confirmar reserva</a:t>
            </a: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Cada paso se activa cuando el anterior ha sido completado.</a:t>
            </a:r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5066550" y="3350400"/>
            <a:ext cx="3808200" cy="16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Columna derecha: </a:t>
            </a: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Resumen visual de la reserva: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- Se presenta información esencial del alojamiento: imagen, título, fechas seleccionadas, duración, precio estimado.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- Este contenido se mantiene visible en todo momento, reforzando el contexto de lo que el usuario está reservando.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4" name="Google Shape;354;p35"/>
          <p:cNvCxnSpPr/>
          <p:nvPr/>
        </p:nvCxnSpPr>
        <p:spPr>
          <a:xfrm>
            <a:off x="4766325" y="3438950"/>
            <a:ext cx="0" cy="1319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5" name="Google Shape;355;p35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5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2: </a:t>
            </a:r>
            <a:r>
              <a:rPr lang="es" sz="1500" u="sng">
                <a:solidFill>
                  <a:srgbClr val="666666"/>
                </a:solidFill>
              </a:rPr>
              <a:t>Inicio de Sesión / Registro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358" name="Google Shape;358;p35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263300" y="2348925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263300" y="2315775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50" y="2460674"/>
            <a:ext cx="3134300" cy="1809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6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6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2: </a:t>
            </a:r>
            <a:r>
              <a:rPr lang="es" sz="1500" u="sng">
                <a:solidFill>
                  <a:srgbClr val="666666"/>
                </a:solidFill>
              </a:rPr>
              <a:t>Inicio de Sesión / Registro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369" name="Google Shape;369;p36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894850" y="1713748"/>
            <a:ext cx="1977300" cy="3732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417400" y="1726348"/>
            <a:ext cx="29322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Versión Actual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5414298" y="1332748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36"/>
          <p:cNvSpPr txBox="1"/>
          <p:nvPr>
            <p:ph idx="1" type="body"/>
          </p:nvPr>
        </p:nvSpPr>
        <p:spPr>
          <a:xfrm>
            <a:off x="5525598" y="1326448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74" name="Google Shape;374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1388" y="1864648"/>
            <a:ext cx="5263121" cy="312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"/>
          <p:cNvSpPr txBox="1"/>
          <p:nvPr>
            <p:ph idx="1" type="body"/>
          </p:nvPr>
        </p:nvSpPr>
        <p:spPr>
          <a:xfrm>
            <a:off x="259200" y="1212600"/>
            <a:ext cx="5361900" cy="27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2. </a:t>
            </a:r>
            <a:r>
              <a:rPr b="1" lang="es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Proceso de registro extenso y distribuido en múltiples páginas</a:t>
            </a:r>
            <a:br>
              <a:rPr b="1" lang="es" sz="1100"/>
            </a:br>
            <a:br>
              <a:rPr lang="es" sz="1100"/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Implementar un proceso de autenticación progresivo, embebido dentro del flujo de reserva.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Paso 1: Elección de método de autenticación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Autenticación rápida: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Mediante Google o Apple (sin necesidad de completar formularios ni validar código).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Registro manual: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Introduciendo sus datos personales (nombre, teléfono y correo electrónico). Esta opción da inicio a un flujo progresivo dentro del entorno del sitio.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0" name="Google Shape;3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125" y="1357749"/>
            <a:ext cx="2886550" cy="1729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7" title="sgd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7100" y="3658850"/>
            <a:ext cx="3264724" cy="136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7" title="scf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1500" y="4045650"/>
            <a:ext cx="2467051" cy="1040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7"/>
          <p:cNvCxnSpPr/>
          <p:nvPr/>
        </p:nvCxnSpPr>
        <p:spPr>
          <a:xfrm flipH="1">
            <a:off x="7289000" y="3163052"/>
            <a:ext cx="29400" cy="404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37"/>
          <p:cNvCxnSpPr/>
          <p:nvPr/>
        </p:nvCxnSpPr>
        <p:spPr>
          <a:xfrm flipH="1">
            <a:off x="4387000" y="4426650"/>
            <a:ext cx="837300" cy="7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85" name="Google Shape;385;p37" title="logo-empresa-dorado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7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2: </a:t>
            </a:r>
            <a:r>
              <a:rPr lang="es" sz="1500" u="sng">
                <a:solidFill>
                  <a:srgbClr val="666666"/>
                </a:solidFill>
              </a:rPr>
              <a:t>Inicio de Sesión / Registro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388" name="Google Shape;388;p37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259200" y="1613325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259200" y="1580175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 txBox="1"/>
          <p:nvPr>
            <p:ph idx="1" type="body"/>
          </p:nvPr>
        </p:nvSpPr>
        <p:spPr>
          <a:xfrm>
            <a:off x="3496275" y="1106175"/>
            <a:ext cx="5105700" cy="27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2. Proceso de registro extenso y distribuido en múltiples páginas</a:t>
            </a:r>
            <a:br>
              <a:rPr b="1" lang="es" sz="1100"/>
            </a:br>
            <a:br>
              <a:rPr lang="es" sz="1100"/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Este paso se activa solo si el usuario 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elige el registro manual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. Tras ingresar sus datos, se debe verificar la identidad para continuar de forma segura.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Paso 2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(solo si elige registro manual)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: Verificación por código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Paso 3: Avance al siguiente paso del flujo de reserva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>
                <a:latin typeface="Inter"/>
                <a:ea typeface="Inter"/>
                <a:cs typeface="Inter"/>
                <a:sym typeface="Inter"/>
              </a:rPr>
              <a:t>Una vez verificado el código, el sistema:</a:t>
            </a:r>
            <a:endParaRPr b="1"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Cierra el modal de autenticación.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Habilita automáticamente el siguiente paso del wizard (Selección de extras)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Mantiene el resumen de la reserva visible en todo momento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6" name="Google Shape;39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50" y="1276474"/>
            <a:ext cx="2886550" cy="1729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8" title="sgdg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651" y="3665326"/>
            <a:ext cx="3111201" cy="129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8" title="scf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4300" y="4065925"/>
            <a:ext cx="2304374" cy="97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38"/>
          <p:cNvCxnSpPr/>
          <p:nvPr/>
        </p:nvCxnSpPr>
        <p:spPr>
          <a:xfrm>
            <a:off x="1711925" y="3066775"/>
            <a:ext cx="2700" cy="443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38"/>
          <p:cNvCxnSpPr/>
          <p:nvPr/>
        </p:nvCxnSpPr>
        <p:spPr>
          <a:xfrm>
            <a:off x="3776325" y="4448825"/>
            <a:ext cx="679800" cy="29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01" name="Google Shape;401;p38" title="logo-empresa-dorado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8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2: </a:t>
            </a:r>
            <a:r>
              <a:rPr lang="es" sz="1500" u="sng">
                <a:solidFill>
                  <a:srgbClr val="666666"/>
                </a:solidFill>
              </a:rPr>
              <a:t>Inicio de Sesión / Registro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404" name="Google Shape;404;p38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3538175" y="1309625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" name="Google Shape;406;p38"/>
          <p:cNvSpPr txBox="1"/>
          <p:nvPr/>
        </p:nvSpPr>
        <p:spPr>
          <a:xfrm>
            <a:off x="3538175" y="1276475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9"/>
          <p:cNvSpPr txBox="1"/>
          <p:nvPr>
            <p:ph idx="1" type="body"/>
          </p:nvPr>
        </p:nvSpPr>
        <p:spPr>
          <a:xfrm>
            <a:off x="195725" y="2464873"/>
            <a:ext cx="252900" cy="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60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2" name="Google Shape;412;p39"/>
          <p:cNvSpPr txBox="1"/>
          <p:nvPr>
            <p:ph idx="1" type="body"/>
          </p:nvPr>
        </p:nvSpPr>
        <p:spPr>
          <a:xfrm>
            <a:off x="3151725" y="2257298"/>
            <a:ext cx="252900" cy="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60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3" name="Google Shape;413;p39"/>
          <p:cNvSpPr txBox="1"/>
          <p:nvPr>
            <p:ph idx="1" type="body"/>
          </p:nvPr>
        </p:nvSpPr>
        <p:spPr>
          <a:xfrm>
            <a:off x="6261613" y="2257298"/>
            <a:ext cx="252900" cy="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60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4" name="Google Shape;414;p39"/>
          <p:cNvSpPr txBox="1"/>
          <p:nvPr>
            <p:ph idx="1" type="body"/>
          </p:nvPr>
        </p:nvSpPr>
        <p:spPr>
          <a:xfrm>
            <a:off x="4263850" y="4276598"/>
            <a:ext cx="252900" cy="3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60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15" name="Google Shape;415;p39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9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2: </a:t>
            </a:r>
            <a:r>
              <a:rPr lang="es" sz="1500" u="sng">
                <a:solidFill>
                  <a:srgbClr val="666666"/>
                </a:solidFill>
              </a:rPr>
              <a:t>Inicio de Sesión / Registro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418" name="Google Shape;418;p39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419" name="Google Shape;419;p39"/>
          <p:cNvSpPr/>
          <p:nvPr/>
        </p:nvSpPr>
        <p:spPr>
          <a:xfrm>
            <a:off x="650450" y="1652249"/>
            <a:ext cx="1762200" cy="3654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0" name="Google Shape;420;p39"/>
          <p:cNvSpPr txBox="1"/>
          <p:nvPr/>
        </p:nvSpPr>
        <p:spPr>
          <a:xfrm>
            <a:off x="450050" y="1634850"/>
            <a:ext cx="2163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1" lang="es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21" name="Google Shape;42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200" y="2931593"/>
            <a:ext cx="3686401" cy="1945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0650" y="1208301"/>
            <a:ext cx="2806024" cy="139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0099" y="1206375"/>
            <a:ext cx="2394799" cy="139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96600" y="2855700"/>
            <a:ext cx="3735878" cy="194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40" title="Proceso-registro.gif"/>
          <p:cNvPicPr preferRelativeResize="0"/>
          <p:nvPr/>
        </p:nvPicPr>
        <p:blipFill rotWithShape="1">
          <a:blip r:embed="rId3">
            <a:alphaModFix/>
          </a:blip>
          <a:srcRect b="0" l="3315" r="3315" t="0"/>
          <a:stretch/>
        </p:blipFill>
        <p:spPr>
          <a:xfrm>
            <a:off x="856037" y="1669700"/>
            <a:ext cx="7431926" cy="33713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0"/>
          <p:cNvSpPr txBox="1"/>
          <p:nvPr>
            <p:ph idx="1" type="body"/>
          </p:nvPr>
        </p:nvSpPr>
        <p:spPr>
          <a:xfrm>
            <a:off x="727650" y="1141700"/>
            <a:ext cx="7688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 u="sng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DEMO VIDEO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31" name="Google Shape;431;p40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0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2: </a:t>
            </a:r>
            <a:r>
              <a:rPr lang="es" sz="1500" u="sng">
                <a:solidFill>
                  <a:srgbClr val="666666"/>
                </a:solidFill>
              </a:rPr>
              <a:t>Inicio de Sesión / Registro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434" name="Google Shape;434;p40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1"/>
          <p:cNvSpPr txBox="1"/>
          <p:nvPr>
            <p:ph idx="1" type="body"/>
          </p:nvPr>
        </p:nvSpPr>
        <p:spPr>
          <a:xfrm>
            <a:off x="207750" y="1212600"/>
            <a:ext cx="4950600" cy="3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Proceso de autenticación desconectado del flujo de reserva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Falta de jerarquía visual 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y estructuración poco clara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- La pantalla de extras y métodos de pago no se integra visualmente con el flujo previo.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 - La información relevante (resumen de reserva, extras disponibles, métodos de pago) no está presentada de forma clara y organizada.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endParaRPr b="1"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Una vez autenticado el usuario (tanto por inicio de sesión como por registro + verificación), el flujo continúa en una única pantalla que muestra con las 2 columnas y habilitado el paso 2 en el acordeón.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- Los extras que quiera el cliente, los va a ir seleccionando, y en la columna de los detalles de la reserva, los va a ir agregando y sumando en el precio total.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0" name="Google Shape;44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550" y="1458025"/>
            <a:ext cx="3526550" cy="334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1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3: </a:t>
            </a:r>
            <a:r>
              <a:rPr lang="es" sz="1500" u="sng">
                <a:solidFill>
                  <a:srgbClr val="666666"/>
                </a:solidFill>
              </a:rPr>
              <a:t>Selección de extras, método de pago y facturación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444" name="Google Shape;444;p41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445" name="Google Shape;445;p41"/>
          <p:cNvSpPr/>
          <p:nvPr/>
        </p:nvSpPr>
        <p:spPr>
          <a:xfrm>
            <a:off x="267725" y="315910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6" name="Google Shape;446;p41"/>
          <p:cNvSpPr txBox="1"/>
          <p:nvPr/>
        </p:nvSpPr>
        <p:spPr>
          <a:xfrm>
            <a:off x="267725" y="312595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2"/>
          <p:cNvSpPr txBox="1"/>
          <p:nvPr>
            <p:ph idx="1" type="body"/>
          </p:nvPr>
        </p:nvSpPr>
        <p:spPr>
          <a:xfrm>
            <a:off x="727650" y="1275225"/>
            <a:ext cx="76887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 u="sng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DEMO VIDEO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52" name="Google Shape;452;p42" title="Seleccionar Extras.gif"/>
          <p:cNvPicPr preferRelativeResize="0"/>
          <p:nvPr/>
        </p:nvPicPr>
        <p:blipFill rotWithShape="1">
          <a:blip r:embed="rId3">
            <a:alphaModFix/>
          </a:blip>
          <a:srcRect b="0" l="4014" r="5373" t="0"/>
          <a:stretch/>
        </p:blipFill>
        <p:spPr>
          <a:xfrm>
            <a:off x="1128225" y="1734100"/>
            <a:ext cx="68875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2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2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3: </a:t>
            </a:r>
            <a:r>
              <a:rPr lang="es" sz="1500" u="sng">
                <a:solidFill>
                  <a:srgbClr val="666666"/>
                </a:solidFill>
              </a:rPr>
              <a:t>Selección de extras, método de pago y facturación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456" name="Google Shape;456;p42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>
            <p:ph idx="1" type="body"/>
          </p:nvPr>
        </p:nvSpPr>
        <p:spPr>
          <a:xfrm>
            <a:off x="4496325" y="1253175"/>
            <a:ext cx="4314000" cy="3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Proceso de autenticación desconectado del flujo de reserva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2. Fragmentación del </a:t>
            </a:r>
            <a:r>
              <a:rPr b="1" lang="es" sz="1100">
                <a:solidFill>
                  <a:srgbClr val="980000"/>
                </a:solidFill>
                <a:latin typeface="Inter"/>
                <a:ea typeface="Inter"/>
                <a:cs typeface="Inter"/>
                <a:sym typeface="Inter"/>
              </a:rPr>
              <a:t>formulario de facturación</a:t>
            </a:r>
            <a:br>
              <a:rPr b="1" lang="es" sz="1100">
                <a:solidFill>
                  <a:srgbClr val="980000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os datos de facturación se solicitan después de completar el pago, lo cual rompe la lógica: el usuario piensa que ya ha terminado y no espera tener que volver a rellenar un formulario.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Integrar los campos obligatorios de facturación en esta misma pantalla, antes de proceder al pago. 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- Una vez validados los campos, habría que elegir el método de pago para continuar con la pasarela de pagos o TPV.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462" name="Google Shape;46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25" y="1293550"/>
            <a:ext cx="3836574" cy="355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3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3: </a:t>
            </a:r>
            <a:r>
              <a:rPr lang="es" sz="1500" u="sng">
                <a:solidFill>
                  <a:srgbClr val="666666"/>
                </a:solidFill>
              </a:rPr>
              <a:t>Selección de extras, método de pago y facturación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466" name="Google Shape;466;p43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467" name="Google Shape;467;p43"/>
          <p:cNvSpPr/>
          <p:nvPr/>
        </p:nvSpPr>
        <p:spPr>
          <a:xfrm>
            <a:off x="4529500" y="320780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43"/>
          <p:cNvSpPr txBox="1"/>
          <p:nvPr/>
        </p:nvSpPr>
        <p:spPr>
          <a:xfrm>
            <a:off x="4529500" y="317465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4"/>
          <p:cNvSpPr txBox="1"/>
          <p:nvPr>
            <p:ph idx="1" type="body"/>
          </p:nvPr>
        </p:nvSpPr>
        <p:spPr>
          <a:xfrm>
            <a:off x="727650" y="1285300"/>
            <a:ext cx="76887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 u="sng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DEMO VIDEO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74" name="Google Shape;474;p44" title="Formulario Facturacion.gif"/>
          <p:cNvPicPr preferRelativeResize="0"/>
          <p:nvPr/>
        </p:nvPicPr>
        <p:blipFill rotWithShape="1">
          <a:blip r:embed="rId3">
            <a:alphaModFix/>
          </a:blip>
          <a:srcRect b="0" l="2021" r="5703" t="0"/>
          <a:stretch/>
        </p:blipFill>
        <p:spPr>
          <a:xfrm>
            <a:off x="1065400" y="1727900"/>
            <a:ext cx="701319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44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4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3: </a:t>
            </a:r>
            <a:r>
              <a:rPr lang="es" sz="1500" u="sng">
                <a:solidFill>
                  <a:srgbClr val="666666"/>
                </a:solidFill>
              </a:rPr>
              <a:t>Selección de extras, método de pago y facturación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478" name="Google Shape;478;p44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5"/>
          <p:cNvSpPr txBox="1"/>
          <p:nvPr>
            <p:ph idx="1" type="body"/>
          </p:nvPr>
        </p:nvSpPr>
        <p:spPr>
          <a:xfrm>
            <a:off x="273900" y="1311975"/>
            <a:ext cx="4465500" cy="3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Pantalla intermedia innecesaria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Se rompe el flujo natural: el usuario hace clic en “Reservar” esperando ir directo a la pasarela.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Eliminar pantalla intermedia y mostrar mensaje directamente en el paso anterior.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Incluir claramente el mensaje del importe de la fianza a pagar en el mismo </a:t>
            </a:r>
            <a:r>
              <a:rPr b="1" lang="es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action="ppaction://hlinksldjump" r:id="rId3"/>
              </a:rPr>
              <a:t>Paso 3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, justo antes del botón </a:t>
            </a:r>
            <a:r>
              <a:rPr b="1" i="1" lang="es" sz="1100">
                <a:latin typeface="Inter"/>
                <a:ea typeface="Inter"/>
                <a:cs typeface="Inter"/>
                <a:sym typeface="Inter"/>
              </a:rPr>
              <a:t>"Proceder al pago"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Ejemplo de mensaje: 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100">
                <a:latin typeface="Inter"/>
                <a:ea typeface="Inter"/>
                <a:cs typeface="Inter"/>
                <a:sym typeface="Inter"/>
              </a:rPr>
              <a:t>“Vas a realizar el pago de fianza por un importe de 72,35€ mediante tarjeta. Este es un pago único y se deducirá inmediatamente tras completar el siguiente paso.”</a:t>
            </a:r>
            <a:endParaRPr b="1" i="1"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484" name="Google Shape;48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750" y="1850325"/>
            <a:ext cx="4021551" cy="20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45" title="logo-empresa-dorad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5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4: Confirmación de pago de fianza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488" name="Google Shape;488;p45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489" name="Google Shape;489;p45"/>
          <p:cNvSpPr/>
          <p:nvPr/>
        </p:nvSpPr>
        <p:spPr>
          <a:xfrm>
            <a:off x="273900" y="230400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0" name="Google Shape;490;p45"/>
          <p:cNvSpPr txBox="1"/>
          <p:nvPr/>
        </p:nvSpPr>
        <p:spPr>
          <a:xfrm>
            <a:off x="273900" y="227085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6"/>
          <p:cNvSpPr txBox="1"/>
          <p:nvPr>
            <p:ph idx="1" type="body"/>
          </p:nvPr>
        </p:nvSpPr>
        <p:spPr>
          <a:xfrm>
            <a:off x="4101525" y="1344100"/>
            <a:ext cx="4694700" cy="32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Cambio abrupto de entorno visual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Al hacer clic en "Proceder", el usuario es redirigido a una nueva página (entorno externo del banco - TPV), no hay señales claras de que el usuario siga dentro del proceso seguro de Colive.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Implementar el TPV como ventana modal (popup) embebida.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En lugar de redirigir a una nueva pestaña o página, se puede implementar el TPV en una ventana modal dentro del mismo entorno de Colive.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-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Esto mantiene al usuario visualmente dentro del sitio y reduce la fricción.</a:t>
            </a:r>
            <a:endParaRPr b="1" sz="1100"/>
          </a:p>
        </p:txBody>
      </p:sp>
      <p:pic>
        <p:nvPicPr>
          <p:cNvPr id="496" name="Google Shape;49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75" y="3219374"/>
            <a:ext cx="3099924" cy="181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250" y="1402425"/>
            <a:ext cx="2665852" cy="1324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8" name="Google Shape;498;p46"/>
          <p:cNvCxnSpPr/>
          <p:nvPr/>
        </p:nvCxnSpPr>
        <p:spPr>
          <a:xfrm>
            <a:off x="1936176" y="2803125"/>
            <a:ext cx="0" cy="3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9" name="Google Shape;499;p46" title="logo-empresa-dorad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6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5: </a:t>
            </a:r>
            <a:r>
              <a:rPr lang="es" sz="1500" u="sng">
                <a:solidFill>
                  <a:srgbClr val="666666"/>
                </a:solidFill>
              </a:rPr>
              <a:t>TPV Virtual - Pago con tarjeta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502" name="Google Shape;502;p46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503" name="Google Shape;503;p46"/>
          <p:cNvSpPr/>
          <p:nvPr/>
        </p:nvSpPr>
        <p:spPr>
          <a:xfrm>
            <a:off x="4101525" y="2482275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4" name="Google Shape;504;p46"/>
          <p:cNvSpPr txBox="1"/>
          <p:nvPr/>
        </p:nvSpPr>
        <p:spPr>
          <a:xfrm>
            <a:off x="4101525" y="2449125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/>
          <p:cNvSpPr txBox="1"/>
          <p:nvPr>
            <p:ph idx="1" type="body"/>
          </p:nvPr>
        </p:nvSpPr>
        <p:spPr>
          <a:xfrm>
            <a:off x="727650" y="1257825"/>
            <a:ext cx="768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 u="sng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DEMO VIDEO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10" name="Google Shape;510;p47" title="Pagar.gif"/>
          <p:cNvPicPr preferRelativeResize="0"/>
          <p:nvPr/>
        </p:nvPicPr>
        <p:blipFill rotWithShape="1">
          <a:blip r:embed="rId3">
            <a:alphaModFix/>
          </a:blip>
          <a:srcRect b="0" l="1903" r="3400" t="0"/>
          <a:stretch/>
        </p:blipFill>
        <p:spPr>
          <a:xfrm>
            <a:off x="973025" y="1766650"/>
            <a:ext cx="71979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7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7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5: </a:t>
            </a:r>
            <a:r>
              <a:rPr lang="es" sz="1500" u="sng">
                <a:solidFill>
                  <a:srgbClr val="666666"/>
                </a:solidFill>
              </a:rPr>
              <a:t>TPV Virtual - Pago con tarjeta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514" name="Google Shape;514;p47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8"/>
          <p:cNvSpPr txBox="1"/>
          <p:nvPr>
            <p:ph idx="1" type="body"/>
          </p:nvPr>
        </p:nvSpPr>
        <p:spPr>
          <a:xfrm>
            <a:off x="241775" y="1365000"/>
            <a:ext cx="4862400" cy="3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Falta de instrucciones claras dentro del TPV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Una vez dentro del TPV, no se le informa al usuario que, tras introducir los datos, debe hacer clic en “Continuar” para finalizar correctamente el pago.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Mostrar instrucciones claras y persistentes antes de abrir el TPV o dentro del modal.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Antes de abrir el TPV (ya sea en modal o redirección), mostrar un mensaje visible con íconos o advertencias como: 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b="1" i="1" lang="es" sz="1100">
                <a:latin typeface="Inter"/>
                <a:ea typeface="Inter"/>
                <a:cs typeface="Inter"/>
                <a:sym typeface="Inter"/>
              </a:rPr>
            </a:br>
            <a:r>
              <a:rPr b="1" i="1" lang="es" sz="1100">
                <a:latin typeface="Inter"/>
                <a:ea typeface="Inter"/>
                <a:cs typeface="Inter"/>
                <a:sym typeface="Inter"/>
              </a:rPr>
              <a:t>"Serás redirigido a una pasarela de pago segura. Para completar tu reserva debes hacer clic en el botón 'Continuar' dentro del formulario de pago después de introducir los datos de tu tarjeta."</a:t>
            </a:r>
            <a:endParaRPr b="1" i="1" sz="1100"/>
          </a:p>
        </p:txBody>
      </p:sp>
      <p:pic>
        <p:nvPicPr>
          <p:cNvPr id="520" name="Google Shape;52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000" y="1995324"/>
            <a:ext cx="3436624" cy="20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8" title="logo-empresa-dorad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8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5: </a:t>
            </a:r>
            <a:r>
              <a:rPr lang="es" sz="1500" u="sng">
                <a:solidFill>
                  <a:srgbClr val="666666"/>
                </a:solidFill>
              </a:rPr>
              <a:t>TPV Virtual - Pago con tarjeta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524" name="Google Shape;524;p48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525" name="Google Shape;525;p48"/>
          <p:cNvSpPr/>
          <p:nvPr/>
        </p:nvSpPr>
        <p:spPr>
          <a:xfrm>
            <a:off x="282425" y="253180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6" name="Google Shape;526;p48"/>
          <p:cNvSpPr txBox="1"/>
          <p:nvPr/>
        </p:nvSpPr>
        <p:spPr>
          <a:xfrm>
            <a:off x="282425" y="249865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9"/>
          <p:cNvSpPr txBox="1"/>
          <p:nvPr>
            <p:ph idx="1" type="body"/>
          </p:nvPr>
        </p:nvSpPr>
        <p:spPr>
          <a:xfrm>
            <a:off x="4495800" y="1442375"/>
            <a:ext cx="4160100" cy="31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Formulario de Facturación Post-Pago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Actualmente, después de realizar el pago, el usuario es dirigido a un formulario de facturación. Sin embargo, en nuestro rediseño, este formulario ya se ha integrado antes del pago, lo que hace redundante este paso.​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Eliminar el Formulario de Facturación Post-Pago: 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Dado que ya se ha integrado antes del pago en el </a:t>
            </a:r>
            <a:r>
              <a:rPr b="1" lang="es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action="ppaction://hlinksldjump" r:id="rId3"/>
              </a:rPr>
              <a:t>Paso 3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, es coherente eliminar este paso para evitar redundancias y posibles confusiones.</a:t>
            </a:r>
            <a:endParaRPr b="1" i="1" sz="1100"/>
          </a:p>
        </p:txBody>
      </p:sp>
      <p:pic>
        <p:nvPicPr>
          <p:cNvPr id="532" name="Google Shape;53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050" y="1289975"/>
            <a:ext cx="3382874" cy="35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49" title="logo-empresa-dorad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9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6: </a:t>
            </a:r>
            <a:r>
              <a:rPr lang="es" sz="1500" u="sng">
                <a:solidFill>
                  <a:srgbClr val="666666"/>
                </a:solidFill>
              </a:rPr>
              <a:t>Confirmación de Reserva y Cierre del Proceso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536" name="Google Shape;536;p49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537" name="Google Shape;537;p49"/>
          <p:cNvSpPr/>
          <p:nvPr/>
        </p:nvSpPr>
        <p:spPr>
          <a:xfrm>
            <a:off x="4495800" y="278900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8" name="Google Shape;538;p49"/>
          <p:cNvSpPr txBox="1"/>
          <p:nvPr/>
        </p:nvSpPr>
        <p:spPr>
          <a:xfrm>
            <a:off x="4495800" y="275585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0"/>
          <p:cNvSpPr txBox="1"/>
          <p:nvPr>
            <p:ph idx="1" type="body"/>
          </p:nvPr>
        </p:nvSpPr>
        <p:spPr>
          <a:xfrm>
            <a:off x="160950" y="1212600"/>
            <a:ext cx="5259000" cy="38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Página de Confirmación de Reserva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Tras el pago, se muestra una página que indica que la reserva está completada. Esta página es clara y proporciona al usuario la seguridad de que su proceso ha finalizado correctamente.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br>
              <a:rPr b="1" lang="es" sz="1100">
                <a:latin typeface="Inter"/>
                <a:ea typeface="Inter"/>
                <a:cs typeface="Inter"/>
                <a:sym typeface="Inter"/>
              </a:rPr>
            </a:br>
            <a:r>
              <a:rPr lang="es" sz="1100">
                <a:latin typeface="Inter"/>
                <a:ea typeface="Inter"/>
                <a:cs typeface="Inter"/>
                <a:sym typeface="Inter"/>
              </a:rPr>
              <a:t>Mejorar la página de confirmación de la reserva, incluyendo la siguiente información: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50">
                <a:latin typeface="Inter"/>
                <a:ea typeface="Inter"/>
                <a:cs typeface="Inter"/>
                <a:sym typeface="Inter"/>
              </a:rPr>
              <a:t>- </a:t>
            </a:r>
            <a:r>
              <a:rPr b="1" lang="es" sz="1050">
                <a:latin typeface="Inter"/>
                <a:ea typeface="Inter"/>
                <a:cs typeface="Inter"/>
                <a:sym typeface="Inter"/>
              </a:rPr>
              <a:t>Resumen de la reserva: </a:t>
            </a:r>
            <a:r>
              <a:rPr lang="es" sz="1050">
                <a:latin typeface="Inter"/>
                <a:ea typeface="Inter"/>
                <a:cs typeface="Inter"/>
                <a:sym typeface="Inter"/>
              </a:rPr>
              <a:t>Incluir detalles como fechas de entrada y salida, habitación seleccionada e importe pagado.​</a:t>
            </a:r>
            <a:endParaRPr sz="105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50">
                <a:latin typeface="Inter"/>
                <a:ea typeface="Inter"/>
                <a:cs typeface="Inter"/>
                <a:sym typeface="Inter"/>
              </a:rPr>
              <a:t>- Información de Contacto: </a:t>
            </a:r>
            <a:r>
              <a:rPr lang="es" sz="1050">
                <a:latin typeface="Inter"/>
                <a:ea typeface="Inter"/>
                <a:cs typeface="Inter"/>
                <a:sym typeface="Inter"/>
              </a:rPr>
              <a:t>Proporcionar datos del anfitrión o del equipo de soporte para resolver posibles dudas.​ </a:t>
            </a:r>
            <a:endParaRPr sz="105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50">
                <a:latin typeface="Inter"/>
                <a:ea typeface="Inter"/>
                <a:cs typeface="Inter"/>
                <a:sym typeface="Inter"/>
              </a:rPr>
              <a:t>- Próximos Pasos: </a:t>
            </a:r>
            <a:r>
              <a:rPr lang="es" sz="1050">
                <a:latin typeface="Inter"/>
                <a:ea typeface="Inter"/>
                <a:cs typeface="Inter"/>
                <a:sym typeface="Inter"/>
              </a:rPr>
              <a:t>Indicar al usuario qué esperar a continuación, como la recepción de un correo con detalles adicionales o instrucciones para el check-in.​ </a:t>
            </a:r>
            <a:endParaRPr sz="105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050">
                <a:latin typeface="Inter"/>
                <a:ea typeface="Inter"/>
                <a:cs typeface="Inter"/>
                <a:sym typeface="Inter"/>
              </a:rPr>
              <a:t>- Opciones de Gestión de Reserva: </a:t>
            </a:r>
            <a:r>
              <a:rPr lang="es" sz="1050">
                <a:latin typeface="Inter"/>
                <a:ea typeface="Inter"/>
                <a:cs typeface="Inter"/>
                <a:sym typeface="Inter"/>
              </a:rPr>
              <a:t>Ofrecer botones para descargar la factura, modificar la reserva o contactar al soporte.</a:t>
            </a:r>
            <a:endParaRPr b="1" i="1" sz="1050"/>
          </a:p>
        </p:txBody>
      </p:sp>
      <p:pic>
        <p:nvPicPr>
          <p:cNvPr id="544" name="Google Shape;5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925" y="1669613"/>
            <a:ext cx="3455074" cy="2011601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0"/>
          <p:cNvSpPr txBox="1"/>
          <p:nvPr/>
        </p:nvSpPr>
        <p:spPr>
          <a:xfrm>
            <a:off x="5872412" y="3974950"/>
            <a:ext cx="2816100" cy="52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 DEMOSTRACIÓN COMPLETA EN VIVO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6" name="Google Shape;546;p50"/>
          <p:cNvSpPr txBox="1"/>
          <p:nvPr/>
        </p:nvSpPr>
        <p:spPr>
          <a:xfrm>
            <a:off x="5682512" y="4641575"/>
            <a:ext cx="319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Código de </a:t>
            </a: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activación</a:t>
            </a: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por defecto:  1234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47" name="Google Shape;547;p50" title="logo-empresa-dorad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0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Paso 6: </a:t>
            </a:r>
            <a:r>
              <a:rPr lang="es" sz="1500" u="sng">
                <a:solidFill>
                  <a:srgbClr val="666666"/>
                </a:solidFill>
              </a:rPr>
              <a:t>Confirmación de Reserva y Cierre del Proceso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550" name="Google Shape;550;p50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551" name="Google Shape;551;p50"/>
          <p:cNvSpPr/>
          <p:nvPr/>
        </p:nvSpPr>
        <p:spPr>
          <a:xfrm>
            <a:off x="201575" y="220115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2" name="Google Shape;552;p50"/>
          <p:cNvSpPr txBox="1"/>
          <p:nvPr/>
        </p:nvSpPr>
        <p:spPr>
          <a:xfrm>
            <a:off x="201575" y="216800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1"/>
          <p:cNvSpPr txBox="1"/>
          <p:nvPr>
            <p:ph idx="1" type="body"/>
          </p:nvPr>
        </p:nvSpPr>
        <p:spPr>
          <a:xfrm>
            <a:off x="729450" y="23836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s" sz="1808"/>
              <a:t>A continuación se analiza la experiencia del usuario una vez ha completado su reserva, centrándonos en las diferentes secciones del perfil que </a:t>
            </a:r>
            <a:r>
              <a:rPr b="1" lang="es" sz="1808"/>
              <a:t>Colive.es</a:t>
            </a:r>
            <a:r>
              <a:rPr lang="es" sz="1808"/>
              <a:t> ofrece actualmente.</a:t>
            </a:r>
            <a:endParaRPr sz="1808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lang="es" sz="1808"/>
              <a:t>Se identifican áreas de mejora en estructura, presentación de la información y acciones disponibles, con propuestas enfocadas en claridad, accesibilidad y coherencia visual con el resto de la plataforma.</a:t>
            </a:r>
            <a:endParaRPr sz="1808"/>
          </a:p>
        </p:txBody>
      </p:sp>
      <p:sp>
        <p:nvSpPr>
          <p:cNvPr id="558" name="Google Shape;558;p51"/>
          <p:cNvSpPr txBox="1"/>
          <p:nvPr>
            <p:ph type="title"/>
          </p:nvPr>
        </p:nvSpPr>
        <p:spPr>
          <a:xfrm>
            <a:off x="729450" y="1318650"/>
            <a:ext cx="7688700" cy="8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40"/>
              <a:t>Secciones del </a:t>
            </a:r>
            <a:r>
              <a:rPr lang="es" sz="2440"/>
              <a:t>Perfil del Cliente: Análisis de Secciones</a:t>
            </a:r>
            <a:endParaRPr sz="2440"/>
          </a:p>
        </p:txBody>
      </p:sp>
      <p:pic>
        <p:nvPicPr>
          <p:cNvPr id="559" name="Google Shape;559;p51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2"/>
          <p:cNvSpPr txBox="1"/>
          <p:nvPr>
            <p:ph idx="1" type="body"/>
          </p:nvPr>
        </p:nvSpPr>
        <p:spPr>
          <a:xfrm>
            <a:off x="221375" y="1273725"/>
            <a:ext cx="5100300" cy="26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Menú excesivamente largo y fragmentado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El usuario ve un listado vertical extenso con todas las secciones, esto podría dificultar localizar rápidamente la sección deseada.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    Menú unificado “Mi cuenta” con subsecciones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Sustituir el menú completo por un único enlace que se llame </a:t>
            </a:r>
            <a:r>
              <a:rPr b="1" i="1" lang="es" sz="1100">
                <a:latin typeface="Inter"/>
                <a:ea typeface="Inter"/>
                <a:cs typeface="Inter"/>
                <a:sym typeface="Inter"/>
              </a:rPr>
              <a:t>“Mi cuenta”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b="1" i="1" lang="es" sz="1100">
                <a:latin typeface="Inter"/>
                <a:ea typeface="Inter"/>
                <a:cs typeface="Inter"/>
                <a:sym typeface="Inter"/>
              </a:rPr>
              <a:t>“Mi perfil”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en el menú desplegable del encabezado cuando un usuario ha iniciado sesión.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Dentro de la página, se podría  mantener una estructura de dos columnas similar a la propuesta para el flujo de reserva: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6" name="Google Shape;566;p52"/>
          <p:cNvSpPr txBox="1"/>
          <p:nvPr>
            <p:ph idx="1" type="body"/>
          </p:nvPr>
        </p:nvSpPr>
        <p:spPr>
          <a:xfrm>
            <a:off x="221375" y="3825900"/>
            <a:ext cx="54918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Columna Izquierda (Navegación):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 Un menú vertical fijo con las opciones. Esta sería la evolución natural del menú desplegable actual, pero siempre visible dentro del contexto de la página de perfil.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Columna Derecha (Contenido):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 El contenido de la sección seleccionada.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7" name="Google Shape;567;p52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2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Navegación / Menú principal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570" name="Google Shape;570;p52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571" name="Google Shape;571;p52"/>
          <p:cNvSpPr/>
          <p:nvPr/>
        </p:nvSpPr>
        <p:spPr>
          <a:xfrm>
            <a:off x="221375" y="2215850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52"/>
          <p:cNvSpPr txBox="1"/>
          <p:nvPr/>
        </p:nvSpPr>
        <p:spPr>
          <a:xfrm>
            <a:off x="221375" y="2182700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pic>
        <p:nvPicPr>
          <p:cNvPr id="573" name="Google Shape;573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1225" y="1144300"/>
            <a:ext cx="2330950" cy="3482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53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3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Navegación / Menú principal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581" name="Google Shape;581;p53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582" name="Google Shape;582;p53"/>
          <p:cNvSpPr/>
          <p:nvPr/>
        </p:nvSpPr>
        <p:spPr>
          <a:xfrm>
            <a:off x="841100" y="1397673"/>
            <a:ext cx="1977300" cy="3732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" name="Google Shape;583;p53"/>
          <p:cNvSpPr txBox="1"/>
          <p:nvPr>
            <p:ph idx="1" type="body"/>
          </p:nvPr>
        </p:nvSpPr>
        <p:spPr>
          <a:xfrm>
            <a:off x="363650" y="1410273"/>
            <a:ext cx="29322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Versión Actual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4" name="Google Shape;584;p53"/>
          <p:cNvSpPr/>
          <p:nvPr/>
        </p:nvSpPr>
        <p:spPr>
          <a:xfrm>
            <a:off x="6013137" y="1332748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5" name="Google Shape;585;p53"/>
          <p:cNvSpPr txBox="1"/>
          <p:nvPr>
            <p:ph idx="1" type="body"/>
          </p:nvPr>
        </p:nvSpPr>
        <p:spPr>
          <a:xfrm>
            <a:off x="6124437" y="1326448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86" name="Google Shape;58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723" y="1978700"/>
            <a:ext cx="2086055" cy="31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38775" y="1826300"/>
            <a:ext cx="3126025" cy="3116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4"/>
          <p:cNvSpPr txBox="1"/>
          <p:nvPr>
            <p:ph idx="1" type="body"/>
          </p:nvPr>
        </p:nvSpPr>
        <p:spPr>
          <a:xfrm>
            <a:off x="4203450" y="1317025"/>
            <a:ext cx="4632000" cy="33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Presentación poco atractiva de los datos estáticos</a:t>
            </a: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Los datos del cliente se muestran en un listado de texto plano, sin elementos gráficos ni jerarquía visual. Esto dificulta la lectura rápida y la percepción de un entorno cuidado, aunque los campos no sean editables.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Solución:</a:t>
            </a:r>
            <a:r>
              <a:rPr b="1" lang="es" sz="11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b="1" lang="es" sz="11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Mejora del diseño visual y jerarquía de la información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Agrupar los datos en tarjetas o bloques temáticos (p.ej. “Información personal”, “Cuenta bancaria”, “identificación”, “Datos de contacto”) con un sutil fondo claro o borde inferior para separar secciones.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Incorporar iconos ante cada grupo (por ejemplo, un sobre para correo, un teléfono para el móvil), reforzando la asociación visual y mejorando el escaneo.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3" name="Google Shape;593;p54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4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Datos personales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596" name="Google Shape;596;p54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597" name="Google Shape;597;p54"/>
          <p:cNvSpPr/>
          <p:nvPr/>
        </p:nvSpPr>
        <p:spPr>
          <a:xfrm>
            <a:off x="4203450" y="2649375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8" name="Google Shape;598;p54"/>
          <p:cNvSpPr txBox="1"/>
          <p:nvPr/>
        </p:nvSpPr>
        <p:spPr>
          <a:xfrm>
            <a:off x="4203450" y="2616225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pic>
        <p:nvPicPr>
          <p:cNvPr id="599" name="Google Shape;59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250" y="1796175"/>
            <a:ext cx="3746551" cy="24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55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5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Datos personales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607" name="Google Shape;607;p55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608" name="Google Shape;608;p55"/>
          <p:cNvSpPr/>
          <p:nvPr/>
        </p:nvSpPr>
        <p:spPr>
          <a:xfrm>
            <a:off x="810199" y="1561348"/>
            <a:ext cx="1977300" cy="3732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" name="Google Shape;609;p55"/>
          <p:cNvSpPr txBox="1"/>
          <p:nvPr>
            <p:ph idx="1" type="body"/>
          </p:nvPr>
        </p:nvSpPr>
        <p:spPr>
          <a:xfrm>
            <a:off x="332749" y="1573948"/>
            <a:ext cx="29322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Versión Actual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0" name="Google Shape;610;p55"/>
          <p:cNvSpPr/>
          <p:nvPr/>
        </p:nvSpPr>
        <p:spPr>
          <a:xfrm>
            <a:off x="5309607" y="1237973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1" name="Google Shape;611;p55"/>
          <p:cNvSpPr txBox="1"/>
          <p:nvPr>
            <p:ph idx="1" type="body"/>
          </p:nvPr>
        </p:nvSpPr>
        <p:spPr>
          <a:xfrm>
            <a:off x="5420907" y="1231673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12" name="Google Shape;61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550" y="2247100"/>
            <a:ext cx="3112599" cy="203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5" title="FireShot Capture 025 - Datos Personales — Rediseño Completo - []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4924" y="1755173"/>
            <a:ext cx="5386666" cy="3145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56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56"/>
          <p:cNvSpPr txBox="1"/>
          <p:nvPr>
            <p:ph idx="1" type="body"/>
          </p:nvPr>
        </p:nvSpPr>
        <p:spPr>
          <a:xfrm>
            <a:off x="142375" y="1297275"/>
            <a:ext cx="4286400" cy="3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Terminología de sección poco clara y ausencia de CTA final de pago</a:t>
            </a:r>
            <a:b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AutoNum type="arabicPeriod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Etiqueta </a:t>
            </a:r>
            <a:r>
              <a:rPr b="1" i="1" lang="es" sz="1100">
                <a:latin typeface="Inter"/>
                <a:ea typeface="Inter"/>
                <a:cs typeface="Inter"/>
                <a:sym typeface="Inter"/>
              </a:rPr>
              <a:t>“Pago contratos”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en el menú no refleja todos los tipos de pagos gestionables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AutoNum type="arabicPeriod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Sin confirmación visual tras selección de checkboxes.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AutoNum type="arabicPeriod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Usuario confundido sobre cómo proceder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s" sz="1100" u="sng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Soluciones: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AutoNum type="arabicPeriod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Renombrar a </a:t>
            </a:r>
            <a:r>
              <a:rPr b="1" i="1" lang="es" sz="1100">
                <a:latin typeface="Inter"/>
                <a:ea typeface="Inter"/>
                <a:cs typeface="Inter"/>
                <a:sym typeface="Inter"/>
              </a:rPr>
              <a:t>"Mis pagos pendientes"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para mayor claridad.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AutoNum type="arabicPeriod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Mostrar en tiempo real el total a pagar al ir seleccionando los pagos pendientes.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AutoNum type="arabicPeriod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Implementar tarjetas con etiquetas y estados visibles (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Pagado 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/ 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Pendiente</a:t>
            </a:r>
            <a:r>
              <a:rPr lang="es" sz="1100">
                <a:latin typeface="Inter"/>
                <a:ea typeface="Inter"/>
                <a:cs typeface="Inter"/>
                <a:sym typeface="Inter"/>
              </a:rPr>
              <a:t>)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0" name="Google Shape;62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7175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56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Pago contratos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622" name="Google Shape;622;p56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623" name="Google Shape;623;p56"/>
          <p:cNvSpPr/>
          <p:nvPr/>
        </p:nvSpPr>
        <p:spPr>
          <a:xfrm>
            <a:off x="152175" y="3116463"/>
            <a:ext cx="11061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" name="Google Shape;624;p56"/>
          <p:cNvSpPr txBox="1"/>
          <p:nvPr/>
        </p:nvSpPr>
        <p:spPr>
          <a:xfrm>
            <a:off x="185175" y="3083313"/>
            <a:ext cx="104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Soluciones</a:t>
            </a:r>
            <a:endParaRPr/>
          </a:p>
        </p:txBody>
      </p:sp>
      <p:pic>
        <p:nvPicPr>
          <p:cNvPr id="625" name="Google Shape;62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3825" y="1297275"/>
            <a:ext cx="403860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57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7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Pago contratos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633" name="Google Shape;633;p57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634" name="Google Shape;634;p57"/>
          <p:cNvSpPr/>
          <p:nvPr/>
        </p:nvSpPr>
        <p:spPr>
          <a:xfrm>
            <a:off x="795968" y="1712248"/>
            <a:ext cx="1977300" cy="3732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5" name="Google Shape;635;p57"/>
          <p:cNvSpPr txBox="1"/>
          <p:nvPr>
            <p:ph idx="1" type="body"/>
          </p:nvPr>
        </p:nvSpPr>
        <p:spPr>
          <a:xfrm>
            <a:off x="318518" y="1724848"/>
            <a:ext cx="29322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Versión Actual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36" name="Google Shape;636;p57"/>
          <p:cNvSpPr/>
          <p:nvPr/>
        </p:nvSpPr>
        <p:spPr>
          <a:xfrm>
            <a:off x="5408687" y="1256548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" name="Google Shape;637;p57"/>
          <p:cNvSpPr txBox="1"/>
          <p:nvPr>
            <p:ph idx="1" type="body"/>
          </p:nvPr>
        </p:nvSpPr>
        <p:spPr>
          <a:xfrm>
            <a:off x="5519987" y="1250248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38" name="Google Shape;63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881" y="2495550"/>
            <a:ext cx="3185475" cy="186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0175" y="1801050"/>
            <a:ext cx="5274324" cy="3127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8"/>
          <p:cNvSpPr txBox="1"/>
          <p:nvPr>
            <p:ph idx="1" type="body"/>
          </p:nvPr>
        </p:nvSpPr>
        <p:spPr>
          <a:xfrm>
            <a:off x="4127250" y="1317025"/>
            <a:ext cx="4632000" cy="17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Listado genérico sin metadatos ni acciones directas</a:t>
            </a:r>
            <a:b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Documentos presentados como simples enlaces de texto.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Ausencia de metadatos clave (fecha de emisión, tipo de documento).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Falta de acciones directas para ver o descargar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b="1" sz="1100">
              <a:solidFill>
                <a:srgbClr val="3876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5" name="Google Shape;645;p58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8"/>
          <p:cNvSpPr txBox="1"/>
          <p:nvPr>
            <p:ph idx="1" type="body"/>
          </p:nvPr>
        </p:nvSpPr>
        <p:spPr>
          <a:xfrm>
            <a:off x="152175" y="552200"/>
            <a:ext cx="4969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Contratos y Facturas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648" name="Google Shape;648;p58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649" name="Google Shape;649;p58"/>
          <p:cNvSpPr txBox="1"/>
          <p:nvPr/>
        </p:nvSpPr>
        <p:spPr>
          <a:xfrm>
            <a:off x="4127250" y="3648075"/>
            <a:ext cx="45726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Inter"/>
              <a:buChar char="●"/>
            </a:pP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Implementar tarjetas con </a:t>
            </a:r>
            <a:r>
              <a:rPr b="1"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icono</a:t>
            </a: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título </a:t>
            </a: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b="1"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fecha de emisión</a:t>
            </a: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Inter"/>
              <a:buChar char="●"/>
            </a:pP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Añadir botones destacados </a:t>
            </a:r>
            <a:r>
              <a:rPr b="1"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"Ver"</a:t>
            </a: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"Descargar"</a:t>
            </a: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b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Inter"/>
              <a:buChar char="●"/>
            </a:pPr>
            <a:r>
              <a:rPr lang="es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Opcional: Incorporar filtros por año y tipo de documento</a:t>
            </a:r>
            <a:endParaRPr/>
          </a:p>
        </p:txBody>
      </p:sp>
      <p:sp>
        <p:nvSpPr>
          <p:cNvPr id="650" name="Google Shape;650;p58"/>
          <p:cNvSpPr/>
          <p:nvPr/>
        </p:nvSpPr>
        <p:spPr>
          <a:xfrm>
            <a:off x="4323975" y="3174825"/>
            <a:ext cx="7974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" name="Google Shape;651;p58"/>
          <p:cNvSpPr txBox="1"/>
          <p:nvPr/>
        </p:nvSpPr>
        <p:spPr>
          <a:xfrm>
            <a:off x="4323975" y="3141675"/>
            <a:ext cx="79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r>
              <a:rPr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pic>
        <p:nvPicPr>
          <p:cNvPr id="652" name="Google Shape;65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175" y="1736700"/>
            <a:ext cx="3822450" cy="2534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59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9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Contratos y Facturas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660" name="Google Shape;660;p59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661" name="Google Shape;661;p59"/>
          <p:cNvSpPr/>
          <p:nvPr/>
        </p:nvSpPr>
        <p:spPr>
          <a:xfrm>
            <a:off x="776625" y="1713748"/>
            <a:ext cx="1977300" cy="3732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" name="Google Shape;662;p59"/>
          <p:cNvSpPr txBox="1"/>
          <p:nvPr>
            <p:ph idx="1" type="body"/>
          </p:nvPr>
        </p:nvSpPr>
        <p:spPr>
          <a:xfrm>
            <a:off x="299175" y="1726348"/>
            <a:ext cx="29322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Versión Actual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3" name="Google Shape;663;p59"/>
          <p:cNvSpPr/>
          <p:nvPr/>
        </p:nvSpPr>
        <p:spPr>
          <a:xfrm>
            <a:off x="5340149" y="1637548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" name="Google Shape;664;p59"/>
          <p:cNvSpPr txBox="1"/>
          <p:nvPr>
            <p:ph idx="1" type="body"/>
          </p:nvPr>
        </p:nvSpPr>
        <p:spPr>
          <a:xfrm>
            <a:off x="5451449" y="1631248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65" name="Google Shape;665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438" y="2266575"/>
            <a:ext cx="3065675" cy="20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9900" y="2260500"/>
            <a:ext cx="5317798" cy="21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oogle Shape;671;p60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0"/>
          <p:cNvSpPr txBox="1"/>
          <p:nvPr>
            <p:ph idx="1" type="body"/>
          </p:nvPr>
        </p:nvSpPr>
        <p:spPr>
          <a:xfrm>
            <a:off x="218575" y="2628050"/>
            <a:ext cx="4528200" cy="16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00"/>
              <a:buFont typeface="Raleway"/>
              <a:buChar char="➔"/>
            </a:pPr>
            <a: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  <a:t>Presentación rígida y sin jerarquía visual</a:t>
            </a:r>
            <a:br>
              <a:rPr b="1" lang="es" sz="1200" u="sng">
                <a:solidFill>
                  <a:srgbClr val="98000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200" u="sng">
              <a:solidFill>
                <a:srgbClr val="98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Presentación en tabla rígida sin jerarquía visual.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Disposición que dificulta escanear rápidamente la información.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Ausencia de elementos distintivos entre compañeros.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3" name="Google Shape;67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7175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60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Compañeros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675" name="Google Shape;675;p60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676" name="Google Shape;676;p60"/>
          <p:cNvSpPr/>
          <p:nvPr/>
        </p:nvSpPr>
        <p:spPr>
          <a:xfrm>
            <a:off x="4957725" y="2693075"/>
            <a:ext cx="1106100" cy="2877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7" name="Google Shape;677;p60"/>
          <p:cNvSpPr txBox="1"/>
          <p:nvPr/>
        </p:nvSpPr>
        <p:spPr>
          <a:xfrm>
            <a:off x="4990725" y="2659925"/>
            <a:ext cx="104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Solución</a:t>
            </a:r>
            <a:endParaRPr/>
          </a:p>
        </p:txBody>
      </p:sp>
      <p:pic>
        <p:nvPicPr>
          <p:cNvPr id="678" name="Google Shape;67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575" y="1329476"/>
            <a:ext cx="8521689" cy="100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60"/>
          <p:cNvSpPr txBox="1"/>
          <p:nvPr>
            <p:ph idx="1" type="body"/>
          </p:nvPr>
        </p:nvSpPr>
        <p:spPr>
          <a:xfrm>
            <a:off x="4799025" y="3114400"/>
            <a:ext cx="4159200" cy="15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Implementar grid de tarjetas individuales con foto destacada.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Establecer jerarquía tipográfica para nombre, edad y género.</a:t>
            </a:r>
            <a:br>
              <a:rPr lang="es" sz="1100">
                <a:latin typeface="Inter"/>
                <a:ea typeface="Inter"/>
                <a:cs typeface="Inter"/>
                <a:sym typeface="Inter"/>
              </a:rPr>
            </a:b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</a:pPr>
            <a:r>
              <a:rPr lang="es" sz="1100">
                <a:latin typeface="Inter"/>
                <a:ea typeface="Inter"/>
                <a:cs typeface="Inter"/>
                <a:sym typeface="Inter"/>
              </a:rPr>
              <a:t>Añadir botón "Contactar" accesible en cada tarjeta.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61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61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usuario: </a:t>
            </a:r>
            <a:r>
              <a:rPr lang="es" sz="1500" u="sng">
                <a:solidFill>
                  <a:srgbClr val="666666"/>
                </a:solidFill>
              </a:rPr>
              <a:t>Compañeros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687" name="Google Shape;687;p61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688" name="Google Shape;688;p61"/>
          <p:cNvSpPr/>
          <p:nvPr/>
        </p:nvSpPr>
        <p:spPr>
          <a:xfrm>
            <a:off x="1105418" y="3373548"/>
            <a:ext cx="1977300" cy="3732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9" name="Google Shape;689;p61"/>
          <p:cNvSpPr txBox="1"/>
          <p:nvPr>
            <p:ph idx="1" type="body"/>
          </p:nvPr>
        </p:nvSpPr>
        <p:spPr>
          <a:xfrm>
            <a:off x="627968" y="3386148"/>
            <a:ext cx="2932200" cy="3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Versión Actual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90" name="Google Shape;69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150" y="3952500"/>
            <a:ext cx="6919149" cy="818325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1"/>
          <p:cNvSpPr/>
          <p:nvPr/>
        </p:nvSpPr>
        <p:spPr>
          <a:xfrm>
            <a:off x="2279624" y="1419153"/>
            <a:ext cx="1977300" cy="373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2" name="Google Shape;692;p61"/>
          <p:cNvSpPr txBox="1"/>
          <p:nvPr>
            <p:ph idx="1" type="body"/>
          </p:nvPr>
        </p:nvSpPr>
        <p:spPr>
          <a:xfrm>
            <a:off x="2390924" y="1419153"/>
            <a:ext cx="1754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s"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Propuesta Visual</a:t>
            </a:r>
            <a:endParaRPr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93" name="Google Shape;693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3625" y="1190553"/>
            <a:ext cx="3724753" cy="241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62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62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Perfil de usuario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701" name="Google Shape;701;p62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702" name="Google Shape;702;p62"/>
          <p:cNvSpPr txBox="1"/>
          <p:nvPr/>
        </p:nvSpPr>
        <p:spPr>
          <a:xfrm>
            <a:off x="3163962" y="2571750"/>
            <a:ext cx="2816100" cy="52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VER DEMOSTRACIÓN COMPLETA EN VIVO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63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7175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63"/>
          <p:cNvSpPr txBox="1"/>
          <p:nvPr>
            <p:ph idx="1" type="body"/>
          </p:nvPr>
        </p:nvSpPr>
        <p:spPr>
          <a:xfrm>
            <a:off x="729450" y="2231275"/>
            <a:ext cx="76887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8"/>
              <a:t>En esta fase final del recorrido del usuario, cada correo representa un punto de contacto que refuerza la experiencia, la confianza y la claridad del servicio.</a:t>
            </a:r>
            <a:endParaRPr sz="1808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8"/>
              <a:t>Se ha rediseñado por completo el contenido, estructura y tono de los principales mensajes enviados por la plataforma Colive, manteniendo la coherencia con la identidad visual y los flujos UX propuestos.</a:t>
            </a:r>
            <a:endParaRPr sz="1808"/>
          </a:p>
        </p:txBody>
      </p:sp>
      <p:sp>
        <p:nvSpPr>
          <p:cNvPr id="710" name="Google Shape;710;p63"/>
          <p:cNvSpPr txBox="1"/>
          <p:nvPr>
            <p:ph type="title"/>
          </p:nvPr>
        </p:nvSpPr>
        <p:spPr>
          <a:xfrm>
            <a:off x="727650" y="1473850"/>
            <a:ext cx="7688700" cy="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40"/>
              <a:t>Correos automáticos post-reserva</a:t>
            </a:r>
            <a:endParaRPr sz="244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64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7175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4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Correos automáticos post-reserva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718" name="Google Shape;718;p64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pic>
        <p:nvPicPr>
          <p:cNvPr id="719" name="Google Shape;719;p64" title="Group 113.png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8650" y="3092275"/>
            <a:ext cx="2520000" cy="9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64" title="Group 110.png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0100" y="2433388"/>
            <a:ext cx="2520000" cy="9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64" title="Group 111 (1).png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0100" y="3822688"/>
            <a:ext cx="2520000" cy="9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4" title="Group 114.png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04375" y="2433400"/>
            <a:ext cx="2520000" cy="9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64" title="Group 112.png">
            <a:hlinkClick r:id="rId13"/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04375" y="3822688"/>
            <a:ext cx="2520000" cy="9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64"/>
          <p:cNvSpPr txBox="1"/>
          <p:nvPr/>
        </p:nvSpPr>
        <p:spPr>
          <a:xfrm>
            <a:off x="1257600" y="1336238"/>
            <a:ext cx="66288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8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 continuación, se presentan las propuestas de correos organizadas de forma interactiva: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5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7175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65"/>
          <p:cNvSpPr txBox="1"/>
          <p:nvPr>
            <p:ph idx="1" type="body"/>
          </p:nvPr>
        </p:nvSpPr>
        <p:spPr>
          <a:xfrm>
            <a:off x="729450" y="2231275"/>
            <a:ext cx="76887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8"/>
              <a:t>Además del rediseño funcional del proceso de reserva, se han auditado y rediseñado 3 páginas clave con valor institucional y estratégico para Colive:</a:t>
            </a:r>
            <a:endParaRPr sz="1808"/>
          </a:p>
          <a:p>
            <a:pPr indent="-330200" lvl="0" marL="457200" rtl="0" algn="ctr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AutoNum type="arabicPeriod"/>
            </a:pPr>
            <a:r>
              <a:rPr lang="es" sz="1600">
                <a:solidFill>
                  <a:srgbClr val="434343"/>
                </a:solidFill>
              </a:rPr>
              <a:t>Página de </a:t>
            </a:r>
            <a:r>
              <a:rPr b="1" lang="es" sz="1600">
                <a:solidFill>
                  <a:srgbClr val="434343"/>
                </a:solidFill>
              </a:rPr>
              <a:t>Contacto libre</a:t>
            </a:r>
            <a:br>
              <a:rPr b="1" lang="es" sz="1600">
                <a:solidFill>
                  <a:srgbClr val="434343"/>
                </a:solidFill>
              </a:rPr>
            </a:br>
            <a:endParaRPr b="1" sz="1600">
              <a:solidFill>
                <a:srgbClr val="434343"/>
              </a:solidFill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AutoNum type="arabicPeriod"/>
            </a:pPr>
            <a:r>
              <a:rPr lang="es" sz="1600">
                <a:solidFill>
                  <a:srgbClr val="434343"/>
                </a:solidFill>
              </a:rPr>
              <a:t>Página </a:t>
            </a:r>
            <a:r>
              <a:rPr b="1" lang="es" sz="1600">
                <a:solidFill>
                  <a:srgbClr val="434343"/>
                </a:solidFill>
              </a:rPr>
              <a:t>Ofrece tu propiedad</a:t>
            </a:r>
            <a:br>
              <a:rPr b="1" lang="es" sz="1600">
                <a:solidFill>
                  <a:srgbClr val="434343"/>
                </a:solidFill>
              </a:rPr>
            </a:br>
            <a:endParaRPr b="1" sz="1600">
              <a:solidFill>
                <a:srgbClr val="434343"/>
              </a:solidFill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AutoNum type="arabicPeriod"/>
            </a:pPr>
            <a:r>
              <a:rPr lang="es" sz="1600">
                <a:solidFill>
                  <a:srgbClr val="434343"/>
                </a:solidFill>
              </a:rPr>
              <a:t>Página de </a:t>
            </a:r>
            <a:r>
              <a:rPr b="1" lang="es" sz="1600">
                <a:solidFill>
                  <a:srgbClr val="434343"/>
                </a:solidFill>
              </a:rPr>
              <a:t>Colaboradores</a:t>
            </a:r>
            <a:endParaRPr b="1" sz="16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8"/>
          </a:p>
        </p:txBody>
      </p:sp>
      <p:sp>
        <p:nvSpPr>
          <p:cNvPr id="732" name="Google Shape;732;p65"/>
          <p:cNvSpPr txBox="1"/>
          <p:nvPr>
            <p:ph type="title"/>
          </p:nvPr>
        </p:nvSpPr>
        <p:spPr>
          <a:xfrm>
            <a:off x="727650" y="1169050"/>
            <a:ext cx="76887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40"/>
              <a:t>Páginas institucionales clave: rediseño y optimización UX/UI</a:t>
            </a:r>
            <a:endParaRPr sz="244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p66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7175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6"/>
          <p:cNvSpPr txBox="1"/>
          <p:nvPr>
            <p:ph idx="1" type="body"/>
          </p:nvPr>
        </p:nvSpPr>
        <p:spPr>
          <a:xfrm>
            <a:off x="152175" y="552200"/>
            <a:ext cx="53178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666666"/>
                </a:solidFill>
              </a:rPr>
              <a:t>Páginas institucionales clave</a:t>
            </a:r>
            <a:endParaRPr sz="1500" u="sng">
              <a:solidFill>
                <a:srgbClr val="666666"/>
              </a:solidFill>
            </a:endParaRPr>
          </a:p>
        </p:txBody>
      </p:sp>
      <p:sp>
        <p:nvSpPr>
          <p:cNvPr id="740" name="Google Shape;740;p66"/>
          <p:cNvSpPr txBox="1"/>
          <p:nvPr>
            <p:ph type="title"/>
          </p:nvPr>
        </p:nvSpPr>
        <p:spPr>
          <a:xfrm>
            <a:off x="4677825" y="552200"/>
            <a:ext cx="4314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1400">
                <a:solidFill>
                  <a:srgbClr val="666666"/>
                </a:solidFill>
              </a:rPr>
              <a:t>Hallazgos y propuestas UX/UI</a:t>
            </a:r>
            <a:endParaRPr b="0" sz="1400">
              <a:solidFill>
                <a:srgbClr val="666666"/>
              </a:solidFill>
            </a:endParaRPr>
          </a:p>
        </p:txBody>
      </p:sp>
      <p:sp>
        <p:nvSpPr>
          <p:cNvPr id="741" name="Google Shape;741;p66"/>
          <p:cNvSpPr txBox="1"/>
          <p:nvPr/>
        </p:nvSpPr>
        <p:spPr>
          <a:xfrm>
            <a:off x="1257600" y="1260038"/>
            <a:ext cx="66288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8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 continuación, se presentan propuestas de diseño en las páginas mencionadas de forma interactiva:</a:t>
            </a:r>
            <a:endParaRPr/>
          </a:p>
        </p:txBody>
      </p:sp>
      <p:pic>
        <p:nvPicPr>
          <p:cNvPr id="742" name="Google Shape;742;p66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6671" y="2157051"/>
            <a:ext cx="2500211" cy="2719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66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89282" y="2157051"/>
            <a:ext cx="2500211" cy="2719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66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4075" y="2157051"/>
            <a:ext cx="2500200" cy="271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9" name="Google Shape;749;p67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7"/>
          <p:cNvSpPr txBox="1"/>
          <p:nvPr>
            <p:ph idx="1" type="body"/>
          </p:nvPr>
        </p:nvSpPr>
        <p:spPr>
          <a:xfrm>
            <a:off x="373725" y="2023400"/>
            <a:ext cx="4197300" cy="24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Reducción del abandono durante el proceso de reserva.</a:t>
            </a:r>
            <a:br>
              <a:rPr lang="es" sz="1200">
                <a:latin typeface="Inter"/>
                <a:ea typeface="Inter"/>
                <a:cs typeface="Inter"/>
                <a:sym typeface="Inter"/>
              </a:rPr>
            </a:b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Mayor claridad y confianza en la navegación del perfil de usuario.</a:t>
            </a:r>
            <a:br>
              <a:rPr lang="es" sz="1200">
                <a:latin typeface="Inter"/>
                <a:ea typeface="Inter"/>
                <a:cs typeface="Inter"/>
                <a:sym typeface="Inter"/>
              </a:rPr>
            </a:b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Una experiencia más fluida, coherente y profesional.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2" name="Google Shape;752;p67"/>
          <p:cNvSpPr txBox="1"/>
          <p:nvPr>
            <p:ph idx="1" type="body"/>
          </p:nvPr>
        </p:nvSpPr>
        <p:spPr>
          <a:xfrm>
            <a:off x="2473350" y="1160875"/>
            <a:ext cx="4197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600">
                <a:solidFill>
                  <a:srgbClr val="666666"/>
                </a:solidFill>
              </a:rPr>
              <a:t>¿Qué impacto pueden tener estas mejoras?</a:t>
            </a:r>
            <a:endParaRPr b="1" sz="1600" u="sng">
              <a:solidFill>
                <a:srgbClr val="666666"/>
              </a:solidFill>
            </a:endParaRPr>
          </a:p>
        </p:txBody>
      </p:sp>
      <p:sp>
        <p:nvSpPr>
          <p:cNvPr id="753" name="Google Shape;753;p67"/>
          <p:cNvSpPr txBox="1"/>
          <p:nvPr>
            <p:ph idx="1" type="body"/>
          </p:nvPr>
        </p:nvSpPr>
        <p:spPr>
          <a:xfrm>
            <a:off x="4703025" y="2023400"/>
            <a:ext cx="4049100" cy="20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Mayor conversión de usuarios que completan una reserva.</a:t>
            </a:r>
            <a:br>
              <a:rPr lang="es" sz="1200">
                <a:latin typeface="Inter"/>
                <a:ea typeface="Inter"/>
                <a:cs typeface="Inter"/>
                <a:sym typeface="Inter"/>
              </a:rPr>
            </a:b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Mejora en la percepción general de marca y servicio.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68" title="logo-empresa-dorad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3" y="90975"/>
            <a:ext cx="1408973" cy="3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325" y="169788"/>
            <a:ext cx="1400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8"/>
          <p:cNvSpPr txBox="1"/>
          <p:nvPr>
            <p:ph idx="1" type="body"/>
          </p:nvPr>
        </p:nvSpPr>
        <p:spPr>
          <a:xfrm>
            <a:off x="628525" y="1783375"/>
            <a:ext cx="32292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Durante esta auditoría he buscado no solo detectar problemas, sino entender cómo afectan al usuario final y al negocio.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Todas las soluciones propuestas están pensadas para ser claras, realistas y alineadas con los objetivos de Colive.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Google Shape;761;p68"/>
          <p:cNvSpPr txBox="1"/>
          <p:nvPr>
            <p:ph idx="1" type="body"/>
          </p:nvPr>
        </p:nvSpPr>
        <p:spPr>
          <a:xfrm>
            <a:off x="2881338" y="1043350"/>
            <a:ext cx="3381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600">
                <a:solidFill>
                  <a:srgbClr val="666666"/>
                </a:solidFill>
              </a:rPr>
              <a:t>Enfoque de diseño UX/UI aplicado</a:t>
            </a:r>
            <a:endParaRPr b="1" sz="1600" u="sng">
              <a:solidFill>
                <a:srgbClr val="666666"/>
              </a:solidFill>
            </a:endParaRPr>
          </a:p>
        </p:txBody>
      </p:sp>
      <p:sp>
        <p:nvSpPr>
          <p:cNvPr id="762" name="Google Shape;762;p68"/>
          <p:cNvSpPr txBox="1"/>
          <p:nvPr>
            <p:ph idx="1" type="body"/>
          </p:nvPr>
        </p:nvSpPr>
        <p:spPr>
          <a:xfrm>
            <a:off x="4271199" y="1783375"/>
            <a:ext cx="4170000" cy="26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Me enfoco en: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Diseñar experiencias simples, lógicas y centradas en el usuario.</a:t>
            </a:r>
            <a:br>
              <a:rPr lang="es" sz="1200">
                <a:latin typeface="Inter"/>
                <a:ea typeface="Inter"/>
                <a:cs typeface="Inter"/>
                <a:sym typeface="Inter"/>
              </a:rPr>
            </a:b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Detectar barreras reales con empatía y visión crítica.</a:t>
            </a:r>
            <a:br>
              <a:rPr lang="es" sz="1200">
                <a:latin typeface="Inter"/>
                <a:ea typeface="Inter"/>
                <a:cs typeface="Inter"/>
                <a:sym typeface="Inter"/>
              </a:rPr>
            </a:b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Traducir esos hallazgos en mejoras concretas y aplicables.</a:t>
            </a:r>
            <a:br>
              <a:rPr lang="es" sz="1200">
                <a:latin typeface="Inter"/>
                <a:ea typeface="Inter"/>
                <a:cs typeface="Inter"/>
                <a:sym typeface="Inter"/>
              </a:rPr>
            </a:b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Mantener una coherencia visual y funcional a largo plazo.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A2441"/>
            </a:gs>
            <a:gs pos="100000">
              <a:srgbClr val="000000"/>
            </a:gs>
          </a:gsLst>
          <a:lin ang="16200038" scaled="0"/>
        </a:gra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9"/>
          <p:cNvSpPr txBox="1"/>
          <p:nvPr/>
        </p:nvSpPr>
        <p:spPr>
          <a:xfrm>
            <a:off x="773100" y="1160500"/>
            <a:ext cx="7597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¡Gracias por su atención!</a:t>
            </a:r>
            <a:endParaRPr b="1" sz="5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8" name="Google Shape;768;p69"/>
          <p:cNvSpPr txBox="1"/>
          <p:nvPr/>
        </p:nvSpPr>
        <p:spPr>
          <a:xfrm>
            <a:off x="773100" y="2816050"/>
            <a:ext cx="759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Daniel Felipe Zapata Martinez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9" name="Google Shape;769;p69"/>
          <p:cNvSpPr txBox="1"/>
          <p:nvPr/>
        </p:nvSpPr>
        <p:spPr>
          <a:xfrm>
            <a:off x="773100" y="3418275"/>
            <a:ext cx="759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Diseñador UX/UI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0" name="Google Shape;770;p69"/>
          <p:cNvSpPr/>
          <p:nvPr/>
        </p:nvSpPr>
        <p:spPr>
          <a:xfrm>
            <a:off x="-42600" y="4673400"/>
            <a:ext cx="9229200" cy="47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71" name="Google Shape;77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1913" y="4813200"/>
            <a:ext cx="1400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